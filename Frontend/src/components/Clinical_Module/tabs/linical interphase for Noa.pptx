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25" autoAdjust="0"/>
    <p:restoredTop sz="94660"/>
  </p:normalViewPr>
  <p:slideViewPr>
    <p:cSldViewPr snapToGrid="0">
      <p:cViewPr>
        <p:scale>
          <a:sx n="125" d="100"/>
          <a:sy n="125" d="100"/>
        </p:scale>
        <p:origin x="-60" y="-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862C2C1-AA77-33F8-82AC-37D71AD2D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9774877-F498-87F4-14AC-A8FD62875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90AC8F0-0026-8C76-6CC8-306DD41DA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05/01/2026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7D6D006-A289-CEA5-8254-C9C6BE33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C3054CC-4895-B6CB-2B08-8738CC9E0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87206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D6B93FD-7BE8-837E-5BE1-37B2E9A09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FB0D5A0-006C-081C-BED4-E5C829EE1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D057439-21CA-44E2-C111-AAF1D69E2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05/01/2026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E1C65D3-74E0-C734-9350-E48276767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BB08BB9-33F9-C2CA-7FEE-1C3D55AC3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95964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E3749D5-8B0A-445E-C7D6-64881C8CC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1671FDC-884D-418E-F0F2-A36EA6480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ACED53-4982-96C0-5CD2-8B1C8A930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05/01/2026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6D8E430-3AAF-9203-9ACD-0979E4FA2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5C9042E-DF08-5A50-AAF6-2A18CE5A6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91091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91EA3C7-DCE0-C8F2-1FFE-6C99E8F25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74A14A2-F65D-E44E-59E0-FC3C4E7622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C93B6AD-5B45-CE72-0476-B57117948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E5EAE08-2FDE-2D8F-37EC-FFF4F1496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05/01/2026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14E0FB3-3EFA-EB12-92D7-2377A2F54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A5D351A-8ACC-9B68-949C-B43EAEF60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4433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9CA1D92-22CB-45C1-0EED-43FB4922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6980375-0F56-8D6C-D364-19352B266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FDC7A0E-B03A-3846-4395-446EE4188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5774EF46-2819-5737-3E52-5D6621590B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5478553B-F055-45A0-B45C-F3BE85744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45A18697-F711-12B2-B347-FDEA20BEF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05/01/2026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57F14BFE-C316-50FE-ACEC-1161A4B71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DFE3A38-A4E3-7CD0-9D81-052840F9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9469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A5729B7-9E05-26DB-077C-F08AC613D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366F338C-2AA5-E317-B2AE-A75AC0CCA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05/01/2026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EDD71E2-C119-78E7-D837-D2AD7A25F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798AB38-D985-B71E-EFF5-B4B18592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61796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FE7F1E5C-9A68-F1B4-5441-BBC40C09C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05/01/2026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75791FC5-A6A7-A292-8936-AB339769B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D0DB5FB-FECF-C568-98DA-9ECF8334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0041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9FD3088-F052-315E-C6D1-5A2B8409D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72205F0-EC5E-903B-3E39-F37FF1DAB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4723D8E-3CD5-74C2-7DE5-C373873FE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26449D2-089F-1BA9-9660-9A4FCB951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05/01/2026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A9AC3CE-98D0-5E6F-1650-62CF0FF73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CB00CFC-981B-E9CA-0703-289733E87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5244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A9D9B32-4C37-D1B0-BE0E-03A062A2A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13CA42A-B722-EC28-52DE-3147B0D9E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6D1BF68-F14E-805F-9005-D800BAE01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65C135F-5792-EACE-D404-F696E5F3C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05/01/2026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0742BA6-1B7F-718C-5673-A823971B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4566E5E-AE1A-CA56-373D-8358822B4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933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6F2C2C9-61B3-6D69-D25A-2EDBD1A80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D2B59B8-E334-F945-D544-776C76D7A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7FED76-AF4C-8450-BCE8-D82BD3100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05/01/2026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E56A970-6567-D417-F07C-D5C435974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256957A-D1E6-69EC-BA19-C3FD17C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921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F91F1402-444E-860E-D2F5-5312493F26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391D7C4-C334-8A83-88BE-D867E575C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A967EDB-A04B-25FA-0B42-341D8181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5318B-9C25-4E9E-9C2E-AE609C700A6C}" type="datetimeFigureOut">
              <a:rPr lang="en-IL" smtClean="0"/>
              <a:t>05/01/2026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B53EF21-577B-4EF1-D809-C9D5A4C30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EA7C4F4-8221-553B-C41E-ED58B671F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9374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6470E910-916E-2AB1-B678-82EE79D7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85CC32C-5618-91F7-D209-31B453227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9246E5B-390F-A5EF-E4EE-A83979D7B6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5318B-9C25-4E9E-9C2E-AE609C700A6C}" type="datetimeFigureOut">
              <a:rPr lang="en-IL" smtClean="0"/>
              <a:t>05/01/2026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2559C15-1E74-6566-B8DB-ABA5D5AC3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D257ADB-516E-3EB9-EA28-43641F4B1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E2375-5EBC-4081-9630-4F62638F17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0610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AE45D00-1CD2-11BA-979F-D4F71E33E2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5D9DBB38-6AE0-A09E-2E34-D87265D2AA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7FE91D1E-E165-BE81-6D00-C0A5029C87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0" y="320040"/>
            <a:ext cx="12192000" cy="5836920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F56355CC-D30F-5634-36C5-6A6F10C9A6FD}"/>
              </a:ext>
            </a:extLst>
          </p:cNvPr>
          <p:cNvSpPr/>
          <p:nvPr/>
        </p:nvSpPr>
        <p:spPr>
          <a:xfrm>
            <a:off x="7059144" y="4696317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הפרעה </a:t>
            </a:r>
            <a:r>
              <a:rPr lang="he-IL" sz="1000" dirty="0" err="1"/>
              <a:t>רסטרקטיבית</a:t>
            </a:r>
            <a:r>
              <a:rPr lang="he-IL" sz="1000" dirty="0"/>
              <a:t> קלה</a:t>
            </a:r>
            <a:endParaRPr lang="en-IL" sz="1000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FE8605AE-EE4A-B121-691E-CE6EC3FA7099}"/>
              </a:ext>
            </a:extLst>
          </p:cNvPr>
          <p:cNvSpPr/>
          <p:nvPr/>
        </p:nvSpPr>
        <p:spPr>
          <a:xfrm>
            <a:off x="7059141" y="4911502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הפרעה </a:t>
            </a:r>
            <a:r>
              <a:rPr lang="he-IL" sz="1000" dirty="0" err="1"/>
              <a:t>רסטרקטיבית</a:t>
            </a:r>
            <a:r>
              <a:rPr lang="he-IL" sz="1000" dirty="0"/>
              <a:t> בינונית</a:t>
            </a:r>
            <a:endParaRPr lang="en-IL" sz="1000" dirty="0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DE488B63-ED18-1E1A-F1F4-985290187D48}"/>
              </a:ext>
            </a:extLst>
          </p:cNvPr>
          <p:cNvSpPr/>
          <p:nvPr/>
        </p:nvSpPr>
        <p:spPr>
          <a:xfrm>
            <a:off x="7059141" y="5126687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הפרעה </a:t>
            </a:r>
            <a:r>
              <a:rPr lang="he-IL" sz="1000" dirty="0" err="1"/>
              <a:t>רסטרקטיבית</a:t>
            </a:r>
            <a:r>
              <a:rPr lang="he-IL" sz="1000" dirty="0"/>
              <a:t> קשה</a:t>
            </a:r>
            <a:endParaRPr lang="en-IL" sz="1000" dirty="0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B6841BD2-56BC-9EB7-E760-12BE576976BB}"/>
              </a:ext>
            </a:extLst>
          </p:cNvPr>
          <p:cNvSpPr/>
          <p:nvPr/>
        </p:nvSpPr>
        <p:spPr>
          <a:xfrm>
            <a:off x="5338765" y="4486178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כושר הדיפוזיה </a:t>
            </a:r>
            <a:r>
              <a:rPr lang="he-IL" sz="1000" dirty="0" err="1"/>
              <a:t>הריאתי</a:t>
            </a:r>
            <a:r>
              <a:rPr lang="he-IL" sz="1000" dirty="0"/>
              <a:t> שמור</a:t>
            </a:r>
            <a:endParaRPr lang="en-IL" sz="1000" dirty="0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F574D853-7498-1682-5EF9-A08DA9897AAA}"/>
              </a:ext>
            </a:extLst>
          </p:cNvPr>
          <p:cNvSpPr/>
          <p:nvPr/>
        </p:nvSpPr>
        <p:spPr>
          <a:xfrm>
            <a:off x="6914019" y="6119009"/>
            <a:ext cx="5253328" cy="6920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 err="1"/>
              <a:t>הספירומטריה</a:t>
            </a:r>
            <a:r>
              <a:rPr lang="he-IL" sz="1000" dirty="0"/>
              <a:t> מדגימה עם הפרעה חסימתית קלה עם תגובה חלקית למרחיבי </a:t>
            </a:r>
            <a:r>
              <a:rPr lang="he-IL" sz="1000" dirty="0" err="1"/>
              <a:t>סימפונות</a:t>
            </a:r>
            <a:r>
              <a:rPr lang="he-IL" sz="1000" dirty="0"/>
              <a:t>, בדיקת </a:t>
            </a:r>
            <a:r>
              <a:rPr lang="he-IL" sz="1000" dirty="0" err="1"/>
              <a:t>הפלטיזמוגרפיה</a:t>
            </a:r>
            <a:r>
              <a:rPr lang="he-IL" sz="1000" dirty="0"/>
              <a:t> מדגימה כליאת אויר, ונצפתה ירידה בינונית בכושר הדיפוזיה </a:t>
            </a:r>
            <a:r>
              <a:rPr lang="he-IL" sz="1000" dirty="0" err="1"/>
              <a:t>הריאתית</a:t>
            </a:r>
            <a:r>
              <a:rPr lang="he-IL" sz="1000" dirty="0"/>
              <a:t> ללא שיפור גם כאשר </a:t>
            </a:r>
            <a:r>
              <a:rPr lang="he-IL" sz="1000" dirty="0" err="1"/>
              <a:t>מתקננים</a:t>
            </a:r>
            <a:r>
              <a:rPr lang="he-IL" sz="1000" dirty="0"/>
              <a:t> לנפח </a:t>
            </a:r>
            <a:r>
              <a:rPr lang="he-IL" sz="1000" dirty="0" err="1"/>
              <a:t>האלבאולרי</a:t>
            </a:r>
            <a:r>
              <a:rPr lang="he-IL" sz="1000" dirty="0"/>
              <a:t>: </a:t>
            </a:r>
          </a:p>
          <a:p>
            <a:pPr algn="ctr" rtl="0"/>
            <a:r>
              <a:rPr lang="en-US" sz="1000" dirty="0"/>
              <a:t>FEV</a:t>
            </a:r>
            <a:r>
              <a:rPr lang="he-IL" sz="1000" dirty="0"/>
              <a:t>1 45% </a:t>
            </a:r>
            <a:r>
              <a:rPr lang="en-US" sz="1000" dirty="0"/>
              <a:t>FVC</a:t>
            </a:r>
            <a:r>
              <a:rPr lang="he-IL" sz="1000" dirty="0"/>
              <a:t> 33% </a:t>
            </a:r>
            <a:r>
              <a:rPr lang="en-US" sz="1000" dirty="0"/>
              <a:t>FEV</a:t>
            </a:r>
            <a:r>
              <a:rPr lang="he-IL" sz="1000" dirty="0"/>
              <a:t>1/</a:t>
            </a:r>
            <a:r>
              <a:rPr lang="en-US" sz="1000" dirty="0"/>
              <a:t>FVC</a:t>
            </a:r>
            <a:r>
              <a:rPr lang="he-IL" sz="1000" dirty="0"/>
              <a:t> 0.45 </a:t>
            </a:r>
            <a:r>
              <a:rPr lang="en-US" sz="1000" dirty="0"/>
              <a:t>TLC</a:t>
            </a:r>
            <a:r>
              <a:rPr lang="he-IL" sz="1000" dirty="0"/>
              <a:t>    99% </a:t>
            </a:r>
            <a:r>
              <a:rPr lang="en-US" sz="1000" dirty="0"/>
              <a:t>RV</a:t>
            </a:r>
            <a:r>
              <a:rPr lang="he-IL" sz="1000" dirty="0"/>
              <a:t> 44% </a:t>
            </a:r>
            <a:r>
              <a:rPr lang="en-US" sz="1000" dirty="0"/>
              <a:t>DLCO</a:t>
            </a:r>
            <a:r>
              <a:rPr lang="he-IL" sz="1000" dirty="0"/>
              <a:t>  45 </a:t>
            </a:r>
            <a:r>
              <a:rPr lang="en-US" sz="1000" dirty="0"/>
              <a:t>KCO</a:t>
            </a:r>
            <a:r>
              <a:rPr lang="he-IL" sz="1000" dirty="0"/>
              <a:t> % </a:t>
            </a:r>
            <a:endParaRPr lang="en-IL" sz="1000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A10444E4-3191-26D2-55BC-D303EED4FA1E}"/>
              </a:ext>
            </a:extLst>
          </p:cNvPr>
          <p:cNvSpPr/>
          <p:nvPr/>
        </p:nvSpPr>
        <p:spPr>
          <a:xfrm>
            <a:off x="10499911" y="4489541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 err="1"/>
              <a:t>הספירומטריה</a:t>
            </a:r>
            <a:r>
              <a:rPr lang="he-IL" sz="1000" dirty="0"/>
              <a:t> בגדר הנורמה</a:t>
            </a:r>
            <a:endParaRPr lang="en-IL" sz="1000" dirty="0"/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D5F85E8D-74EC-15AF-0769-60C78126187A}"/>
              </a:ext>
            </a:extLst>
          </p:cNvPr>
          <p:cNvSpPr/>
          <p:nvPr/>
        </p:nvSpPr>
        <p:spPr>
          <a:xfrm>
            <a:off x="5338755" y="5566252"/>
            <a:ext cx="1667435" cy="339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ירידה קשה בכושר הדיפוזיה </a:t>
            </a:r>
            <a:r>
              <a:rPr lang="he-IL" sz="1000" dirty="0" err="1"/>
              <a:t>הריאתית</a:t>
            </a:r>
            <a:endParaRPr lang="en-IL" sz="1000" dirty="0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68D8AF10-E231-146A-8D36-232B7BC7AD1D}"/>
              </a:ext>
            </a:extLst>
          </p:cNvPr>
          <p:cNvSpPr/>
          <p:nvPr/>
        </p:nvSpPr>
        <p:spPr>
          <a:xfrm>
            <a:off x="5338760" y="4695006"/>
            <a:ext cx="1667435" cy="377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ירידה קלה בכושר הדיפוזיה </a:t>
            </a:r>
            <a:r>
              <a:rPr lang="he-IL" sz="1000" dirty="0" err="1"/>
              <a:t>הריאתית</a:t>
            </a:r>
            <a:endParaRPr lang="en-IL" sz="1000" dirty="0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30421526-94D8-111B-22CA-0D21841D906F}"/>
              </a:ext>
            </a:extLst>
          </p:cNvPr>
          <p:cNvSpPr/>
          <p:nvPr/>
        </p:nvSpPr>
        <p:spPr>
          <a:xfrm>
            <a:off x="8779529" y="4486179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ללא תגובה למרחיבי </a:t>
            </a:r>
            <a:r>
              <a:rPr lang="he-IL" sz="1000" dirty="0" err="1"/>
              <a:t>סימפונות</a:t>
            </a:r>
            <a:endParaRPr lang="en-IL" sz="1000" dirty="0"/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4D062BA6-9B9B-1E78-DFE5-9C8DA8FCC56D}"/>
              </a:ext>
            </a:extLst>
          </p:cNvPr>
          <p:cNvSpPr/>
          <p:nvPr/>
        </p:nvSpPr>
        <p:spPr>
          <a:xfrm>
            <a:off x="8779528" y="4695005"/>
            <a:ext cx="1667435" cy="3693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תגובה חלקית למרחיבי </a:t>
            </a:r>
            <a:r>
              <a:rPr lang="he-IL" sz="1000" dirty="0" err="1"/>
              <a:t>סימפונות</a:t>
            </a:r>
            <a:endParaRPr lang="en-IL" sz="1000" dirty="0"/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FCBD9145-7341-AD4A-513A-FFC7D84D2536}"/>
              </a:ext>
            </a:extLst>
          </p:cNvPr>
          <p:cNvSpPr/>
          <p:nvPr/>
        </p:nvSpPr>
        <p:spPr>
          <a:xfrm>
            <a:off x="7059147" y="4486179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נפחי הריאה בגדר הנורמה</a:t>
            </a:r>
            <a:endParaRPr lang="en-IL" sz="1000" dirty="0"/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AF76D22D-4A17-1150-9E11-D6FC01C41531}"/>
              </a:ext>
            </a:extLst>
          </p:cNvPr>
          <p:cNvSpPr/>
          <p:nvPr/>
        </p:nvSpPr>
        <p:spPr>
          <a:xfrm>
            <a:off x="10499915" y="4903022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הפרעה חסימתית בינונית</a:t>
            </a:r>
            <a:endParaRPr lang="en-IL" sz="1000" dirty="0"/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DFF582EF-5513-920D-0651-7297E3818D46}"/>
              </a:ext>
            </a:extLst>
          </p:cNvPr>
          <p:cNvSpPr/>
          <p:nvPr/>
        </p:nvSpPr>
        <p:spPr>
          <a:xfrm>
            <a:off x="10499914" y="5109212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הפרעה חסימתית בינונית קשה</a:t>
            </a:r>
            <a:endParaRPr lang="en-IL" sz="1000" dirty="0"/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A96C2207-7735-2DC8-C779-5758A653C60D}"/>
              </a:ext>
            </a:extLst>
          </p:cNvPr>
          <p:cNvSpPr/>
          <p:nvPr/>
        </p:nvSpPr>
        <p:spPr>
          <a:xfrm>
            <a:off x="10499914" y="5312744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הפרעה חסימתית קשה </a:t>
            </a:r>
            <a:endParaRPr lang="en-IL" sz="1000" dirty="0"/>
          </a:p>
        </p:txBody>
      </p:sp>
      <p:sp>
        <p:nvSpPr>
          <p:cNvPr id="26" name="מלבן 25">
            <a:extLst>
              <a:ext uri="{FF2B5EF4-FFF2-40B4-BE49-F238E27FC236}">
                <a16:creationId xmlns:a16="http://schemas.microsoft.com/office/drawing/2014/main" id="{5C74F94E-0148-9C7E-51DB-040CC6F65A3D}"/>
              </a:ext>
            </a:extLst>
          </p:cNvPr>
          <p:cNvSpPr/>
          <p:nvPr/>
        </p:nvSpPr>
        <p:spPr>
          <a:xfrm>
            <a:off x="10499913" y="5515021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הפרעה חסימתית קשה ביותר</a:t>
            </a:r>
            <a:endParaRPr lang="en-IL" sz="1000" dirty="0"/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A5C7B84D-3D7A-A6B7-3111-BD1D461072A0}"/>
              </a:ext>
            </a:extLst>
          </p:cNvPr>
          <p:cNvSpPr/>
          <p:nvPr/>
        </p:nvSpPr>
        <p:spPr>
          <a:xfrm>
            <a:off x="10499913" y="5717298"/>
            <a:ext cx="1667435" cy="3412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 err="1"/>
              <a:t>ספירומטריה</a:t>
            </a:r>
            <a:r>
              <a:rPr lang="he-IL" sz="1000" dirty="0"/>
              <a:t> עם נפחים ירודים, יש לשקול </a:t>
            </a:r>
            <a:r>
              <a:rPr lang="he-IL" sz="1000" dirty="0" err="1"/>
              <a:t>פלטיזמוגרפיה</a:t>
            </a:r>
            <a:endParaRPr lang="en-IL" sz="1000" dirty="0"/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5B166F90-2A44-7CC0-8C82-52B5EAF780F3}"/>
              </a:ext>
            </a:extLst>
          </p:cNvPr>
          <p:cNvSpPr/>
          <p:nvPr/>
        </p:nvSpPr>
        <p:spPr>
          <a:xfrm>
            <a:off x="10499912" y="4698369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הפרעה חסימתית קלה</a:t>
            </a:r>
            <a:endParaRPr lang="en-IL" sz="1000" dirty="0"/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4283B98F-4ADC-26CD-FDCA-1527AACC4107}"/>
              </a:ext>
            </a:extLst>
          </p:cNvPr>
          <p:cNvSpPr/>
          <p:nvPr/>
        </p:nvSpPr>
        <p:spPr>
          <a:xfrm>
            <a:off x="8779528" y="5110190"/>
            <a:ext cx="1667435" cy="363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תגובה מלאה למרחיבי </a:t>
            </a:r>
            <a:r>
              <a:rPr lang="he-IL" sz="1000" dirty="0" err="1"/>
              <a:t>הסימפונות</a:t>
            </a:r>
            <a:endParaRPr lang="en-IL" sz="1000" dirty="0"/>
          </a:p>
        </p:txBody>
      </p:sp>
      <p:sp>
        <p:nvSpPr>
          <p:cNvPr id="30" name="מלבן 29">
            <a:extLst>
              <a:ext uri="{FF2B5EF4-FFF2-40B4-BE49-F238E27FC236}">
                <a16:creationId xmlns:a16="http://schemas.microsoft.com/office/drawing/2014/main" id="{A7B58E3C-2E11-DDF2-6AEF-3EAF9D406FE7}"/>
              </a:ext>
            </a:extLst>
          </p:cNvPr>
          <p:cNvSpPr/>
          <p:nvPr/>
        </p:nvSpPr>
        <p:spPr>
          <a:xfrm>
            <a:off x="5338755" y="5129576"/>
            <a:ext cx="1667435" cy="385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ירידה בינונית בכושר הדיפוזיה </a:t>
            </a:r>
            <a:r>
              <a:rPr lang="he-IL" sz="1000" dirty="0" err="1"/>
              <a:t>הריאתי</a:t>
            </a:r>
            <a:endParaRPr lang="en-IL" sz="1000" dirty="0"/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D3C5AB63-1782-4FF3-50A9-AB35AFECA078}"/>
              </a:ext>
            </a:extLst>
          </p:cNvPr>
          <p:cNvSpPr/>
          <p:nvPr/>
        </p:nvSpPr>
        <p:spPr>
          <a:xfrm>
            <a:off x="7059140" y="5347631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כליאת אויר</a:t>
            </a:r>
            <a:endParaRPr lang="en-IL" sz="1000" dirty="0"/>
          </a:p>
        </p:txBody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5F1A2D50-8423-CFE1-465C-61ABCE9D2D94}"/>
              </a:ext>
            </a:extLst>
          </p:cNvPr>
          <p:cNvSpPr/>
          <p:nvPr/>
        </p:nvSpPr>
        <p:spPr>
          <a:xfrm>
            <a:off x="7059140" y="5561069"/>
            <a:ext cx="1667435" cy="1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כליאת אויר קשה</a:t>
            </a:r>
            <a:endParaRPr lang="en-IL" sz="1000" dirty="0"/>
          </a:p>
        </p:txBody>
      </p:sp>
      <p:sp>
        <p:nvSpPr>
          <p:cNvPr id="33" name="מלבן 32">
            <a:extLst>
              <a:ext uri="{FF2B5EF4-FFF2-40B4-BE49-F238E27FC236}">
                <a16:creationId xmlns:a16="http://schemas.microsoft.com/office/drawing/2014/main" id="{88514558-E37B-5F8F-27EE-032DFA699173}"/>
              </a:ext>
            </a:extLst>
          </p:cNvPr>
          <p:cNvSpPr/>
          <p:nvPr/>
        </p:nvSpPr>
        <p:spPr>
          <a:xfrm>
            <a:off x="3598260" y="4486178"/>
            <a:ext cx="1667435" cy="377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 err="1"/>
              <a:t>המתנרמלת</a:t>
            </a:r>
            <a:r>
              <a:rPr lang="he-IL" sz="1000" dirty="0"/>
              <a:t> עם התקנון לנפח </a:t>
            </a:r>
            <a:r>
              <a:rPr lang="he-IL" sz="1000" dirty="0" err="1"/>
              <a:t>האלבאולרי</a:t>
            </a:r>
            <a:endParaRPr lang="en-IL" sz="1000" dirty="0"/>
          </a:p>
        </p:txBody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57127F37-D76D-B19A-0C7A-3E0B5CD4F582}"/>
              </a:ext>
            </a:extLst>
          </p:cNvPr>
          <p:cNvSpPr/>
          <p:nvPr/>
        </p:nvSpPr>
        <p:spPr>
          <a:xfrm>
            <a:off x="3598260" y="4923076"/>
            <a:ext cx="1667435" cy="377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עם שיפור חלקי כאשר </a:t>
            </a:r>
            <a:r>
              <a:rPr lang="he-IL" sz="1000" dirty="0" err="1"/>
              <a:t>מתקננים</a:t>
            </a:r>
            <a:r>
              <a:rPr lang="he-IL" sz="1000" dirty="0"/>
              <a:t> לנפח </a:t>
            </a:r>
            <a:r>
              <a:rPr lang="he-IL" sz="1000" dirty="0" err="1"/>
              <a:t>האלבאולרי</a:t>
            </a:r>
            <a:endParaRPr lang="en-IL" sz="1000" dirty="0"/>
          </a:p>
        </p:txBody>
      </p:sp>
      <p:sp>
        <p:nvSpPr>
          <p:cNvPr id="36" name="מלבן 35">
            <a:extLst>
              <a:ext uri="{FF2B5EF4-FFF2-40B4-BE49-F238E27FC236}">
                <a16:creationId xmlns:a16="http://schemas.microsoft.com/office/drawing/2014/main" id="{28E605C2-CC40-8A7A-9706-0819C9E11F81}"/>
              </a:ext>
            </a:extLst>
          </p:cNvPr>
          <p:cNvSpPr/>
          <p:nvPr/>
        </p:nvSpPr>
        <p:spPr>
          <a:xfrm>
            <a:off x="3598260" y="5359974"/>
            <a:ext cx="1667435" cy="377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000" dirty="0"/>
              <a:t>ללא שיפור גם כאשר </a:t>
            </a:r>
            <a:r>
              <a:rPr lang="he-IL" sz="1000" dirty="0" err="1"/>
              <a:t>מתקננים</a:t>
            </a:r>
            <a:r>
              <a:rPr lang="he-IL" sz="1000" dirty="0"/>
              <a:t> לנפח </a:t>
            </a:r>
            <a:r>
              <a:rPr lang="he-IL" sz="1000" dirty="0" err="1"/>
              <a:t>האלבאולרי</a:t>
            </a:r>
            <a:endParaRPr lang="en-IL" sz="1000" dirty="0"/>
          </a:p>
        </p:txBody>
      </p:sp>
      <p:sp>
        <p:nvSpPr>
          <p:cNvPr id="37" name="מלבן 36">
            <a:extLst>
              <a:ext uri="{FF2B5EF4-FFF2-40B4-BE49-F238E27FC236}">
                <a16:creationId xmlns:a16="http://schemas.microsoft.com/office/drawing/2014/main" id="{C7845CE9-8CDA-FA97-64EE-CF6714DBFC67}"/>
              </a:ext>
            </a:extLst>
          </p:cNvPr>
          <p:cNvSpPr/>
          <p:nvPr/>
        </p:nvSpPr>
        <p:spPr>
          <a:xfrm>
            <a:off x="6309360" y="6105415"/>
            <a:ext cx="544156" cy="339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Copy</a:t>
            </a:r>
            <a:endParaRPr lang="en-IL" sz="1000" dirty="0"/>
          </a:p>
        </p:txBody>
      </p:sp>
    </p:spTree>
    <p:extLst>
      <p:ext uri="{BB962C8B-B14F-4D97-AF65-F5344CB8AC3E}">
        <p14:creationId xmlns:p14="http://schemas.microsoft.com/office/powerpoint/2010/main" val="71967432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מסך רחב</PresentationFormat>
  <Paragraphs>26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Doron Cohn-Schwartz</dc:creator>
  <cp:lastModifiedBy>Doron Cohn-Schwartz</cp:lastModifiedBy>
  <cp:revision>2</cp:revision>
  <dcterms:created xsi:type="dcterms:W3CDTF">2026-01-05T14:52:05Z</dcterms:created>
  <dcterms:modified xsi:type="dcterms:W3CDTF">2026-01-05T14:52:35Z</dcterms:modified>
</cp:coreProperties>
</file>