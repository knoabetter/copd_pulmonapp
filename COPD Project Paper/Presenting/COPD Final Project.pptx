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rchive" panose="020B0604020202020204" charset="0"/>
      <p:regular r:id="rId13"/>
    </p:embeddedFont>
    <p:embeddedFont>
      <p:font typeface="Public Sans" panose="020B0604020202020204" charset="0"/>
      <p:regular r:id="rId14"/>
    </p:embeddedFont>
    <p:embeddedFont>
      <p:font typeface="Public Sans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47444" autoAdjust="0"/>
  </p:normalViewPr>
  <p:slideViewPr>
    <p:cSldViewPr>
      <p:cViewPr varScale="1">
        <p:scale>
          <a:sx n="26" d="100"/>
          <a:sy n="26" d="100"/>
        </p:scale>
        <p:origin x="749" y="34"/>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01.07.2025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a:xfrm>
            <a:off x="2290763" y="512763"/>
            <a:ext cx="4562475" cy="2566987"/>
          </a:xfrm>
        </p:spPr>
      </p:sp>
      <p:sp>
        <p:nvSpPr>
          <p:cNvPr id="3" name="מציין מיקום של הערות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effectLst/>
                <a:highlight>
                  <a:srgbClr val="FFFF00"/>
                </a:highlight>
                <a:latin typeface="Times New Roman" panose="02020603050405020304" pitchFamily="18" charset="0"/>
                <a:ea typeface="Times New Roman" panose="02020603050405020304" pitchFamily="18" charset="0"/>
              </a:rPr>
              <a:t>Chronic Obstructive Pulmonary Disease (COPD) is the 3</a:t>
            </a:r>
            <a:r>
              <a:rPr lang="en-US" sz="3200" baseline="30000" dirty="0">
                <a:effectLst/>
                <a:highlight>
                  <a:srgbClr val="FFFF00"/>
                </a:highlight>
                <a:latin typeface="Times New Roman" panose="02020603050405020304" pitchFamily="18" charset="0"/>
                <a:ea typeface="Times New Roman" panose="02020603050405020304" pitchFamily="18" charset="0"/>
              </a:rPr>
              <a:t>rd</a:t>
            </a:r>
            <a:r>
              <a:rPr lang="en-US" sz="3200" dirty="0">
                <a:effectLst/>
                <a:highlight>
                  <a:srgbClr val="FFFF00"/>
                </a:highlight>
                <a:latin typeface="Times New Roman" panose="02020603050405020304" pitchFamily="18" charset="0"/>
                <a:ea typeface="Times New Roman" panose="02020603050405020304" pitchFamily="18" charset="0"/>
              </a:rPr>
              <a:t> leading cause of death globally. COPD remains a major global health concern, with over 300 million individuals affected worldwide, significantly contributing to morbidity, mortality, and healthcare costs.</a:t>
            </a:r>
            <a:br>
              <a:rPr lang="en-US" sz="3200" dirty="0">
                <a:effectLst/>
                <a:highlight>
                  <a:srgbClr val="FFFF00"/>
                </a:highlight>
                <a:latin typeface="Times New Roman" panose="02020603050405020304" pitchFamily="18" charset="0"/>
                <a:ea typeface="Times New Roman" panose="02020603050405020304" pitchFamily="18" charset="0"/>
              </a:rPr>
            </a:br>
            <a:r>
              <a:rPr lang="en-US" sz="3200" dirty="0">
                <a:effectLst/>
                <a:highlight>
                  <a:srgbClr val="FFFF00"/>
                </a:highlight>
                <a:latin typeface="Times New Roman" panose="02020603050405020304" pitchFamily="18" charset="0"/>
                <a:ea typeface="Times New Roman" panose="02020603050405020304" pitchFamily="18" charset="0"/>
              </a:rPr>
              <a:t>The primary risk factors include tobacco smoking, air pollution, and occupational exposures. </a:t>
            </a:r>
          </a:p>
          <a:p>
            <a:endParaRPr lang="en-US" sz="3200" dirty="0">
              <a:effectLst/>
              <a:highlight>
                <a:srgbClr val="FFFF00"/>
              </a:highlight>
              <a:latin typeface="Times New Roman" panose="02020603050405020304" pitchFamily="18" charset="0"/>
              <a:ea typeface="Times New Roman" panose="02020603050405020304" pitchFamily="18" charset="0"/>
            </a:endParaRPr>
          </a:p>
          <a:p>
            <a:r>
              <a:rPr lang="en-US" sz="3200" dirty="0">
                <a:effectLst/>
                <a:highlight>
                  <a:srgbClr val="FFFF00"/>
                </a:highlight>
                <a:latin typeface="Times New Roman" panose="02020603050405020304" pitchFamily="18" charset="0"/>
                <a:ea typeface="Times New Roman" panose="02020603050405020304" pitchFamily="18" charset="0"/>
              </a:rPr>
              <a:t>COPD manifests primarily as either obstructive or restrictive pathologies:</a:t>
            </a:r>
            <a:br>
              <a:rPr lang="en-US" sz="3200" dirty="0">
                <a:effectLst/>
                <a:highlight>
                  <a:srgbClr val="FFFF00"/>
                </a:highlight>
                <a:latin typeface="Times New Roman" panose="02020603050405020304" pitchFamily="18" charset="0"/>
                <a:ea typeface="Times New Roman" panose="02020603050405020304" pitchFamily="18" charset="0"/>
              </a:rPr>
            </a:br>
            <a:r>
              <a:rPr lang="en-US" sz="3200" dirty="0">
                <a:effectLst/>
                <a:highlight>
                  <a:srgbClr val="FFFF00"/>
                </a:highlight>
                <a:latin typeface="Times New Roman" panose="02020603050405020304" pitchFamily="18" charset="0"/>
                <a:ea typeface="Times New Roman" panose="02020603050405020304" pitchFamily="18" charset="0"/>
              </a:rPr>
              <a:t>resulting with abnormalities in the airways and alveoli- leading to progressive airflow obstruction.</a:t>
            </a:r>
            <a:br>
              <a:rPr lang="en-US" sz="3200" dirty="0">
                <a:effectLst/>
                <a:highlight>
                  <a:srgbClr val="FFFF00"/>
                </a:highlight>
                <a:latin typeface="Times New Roman" panose="02020603050405020304" pitchFamily="18" charset="0"/>
                <a:ea typeface="Times New Roman" panose="02020603050405020304" pitchFamily="18" charset="0"/>
              </a:rPr>
            </a:br>
            <a:endParaRPr lang="en-US" sz="3200" dirty="0">
              <a:effectLst/>
              <a:latin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Diagnosis is based on spirometry, which demonstrates fixed airway obstruction. This is assessed by </a:t>
            </a:r>
            <a:r>
              <a:rPr lang="en-US" sz="1800" dirty="0">
                <a:effectLst/>
                <a:highlight>
                  <a:srgbClr val="FFFF00"/>
                </a:highlight>
                <a:latin typeface="Times New Roman" panose="02020603050405020304" pitchFamily="18" charset="0"/>
                <a:ea typeface="Times New Roman" panose="02020603050405020304" pitchFamily="18" charset="0"/>
              </a:rPr>
              <a:t>dividing the Forced Expiratory Volume during the 1st second of exhalation (FEV1)</a:t>
            </a:r>
            <a:r>
              <a:rPr lang="en-US" sz="1800" dirty="0">
                <a:effectLst/>
                <a:latin typeface="Times New Roman" panose="02020603050405020304" pitchFamily="18" charset="0"/>
                <a:ea typeface="Times New Roman" panose="02020603050405020304" pitchFamily="18" charset="0"/>
              </a:rPr>
              <a:t> </a:t>
            </a:r>
            <a:r>
              <a:rPr lang="en-US" sz="1800" dirty="0">
                <a:effectLst/>
                <a:highlight>
                  <a:srgbClr val="FFFF00"/>
                </a:highlight>
                <a:latin typeface="Times New Roman" panose="02020603050405020304" pitchFamily="18" charset="0"/>
                <a:ea typeface="Times New Roman" panose="02020603050405020304" pitchFamily="18" charset="0"/>
              </a:rPr>
              <a:t>by the Forced Vital Capacity (FVC). A FEV1/FVC ratio below 0.7 is typically diagnostic of COPD.</a:t>
            </a:r>
            <a:r>
              <a:rPr lang="en-US" sz="1800" dirty="0">
                <a:effectLst/>
                <a:latin typeface="Times New Roman" panose="02020603050405020304" pitchFamily="18" charset="0"/>
                <a:ea typeface="Times New Roman" panose="02020603050405020304" pitchFamily="18" charset="0"/>
              </a:rPr>
              <a:t> </a:t>
            </a:r>
            <a:endParaRPr lang="en-US" dirty="0"/>
          </a:p>
        </p:txBody>
      </p:sp>
      <p:sp>
        <p:nvSpPr>
          <p:cNvPr id="4" name="מציין מיקום של מספר שקופית 3"/>
          <p:cNvSpPr>
            <a:spLocks noGrp="1"/>
          </p:cNvSpPr>
          <p:nvPr>
            <p:ph type="sldNum" sz="quarter" idx="5"/>
          </p:nvPr>
        </p:nvSpPr>
        <p:spPr/>
        <p:txBody>
          <a:bodyPr/>
          <a:lstStyle/>
          <a:p>
            <a:fld id="{871B2431-D351-4C6E-A3CF-9DFAC0E3E050}" type="slidenum">
              <a:rPr lang="cs-CZ" smtClean="0"/>
              <a:t>2</a:t>
            </a:fld>
            <a:endParaRPr lang="cs-CZ"/>
          </a:p>
        </p:txBody>
      </p:sp>
    </p:spTree>
    <p:extLst>
      <p:ext uri="{BB962C8B-B14F-4D97-AF65-F5344CB8AC3E}">
        <p14:creationId xmlns:p14="http://schemas.microsoft.com/office/powerpoint/2010/main" val="2402463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a:xfrm>
            <a:off x="2290763" y="512763"/>
            <a:ext cx="4562475" cy="2566987"/>
          </a:xfrm>
        </p:spPr>
      </p:sp>
      <p:sp>
        <p:nvSpPr>
          <p:cNvPr id="3" name="מציין מיקום של הערות 2"/>
          <p:cNvSpPr>
            <a:spLocks noGrp="1"/>
          </p:cNvSpPr>
          <p:nvPr>
            <p:ph type="body" idx="1"/>
          </p:nvPr>
        </p:nvSpPr>
        <p:spPr/>
        <p:txBody>
          <a:bodyPr/>
          <a:lstStyle/>
          <a:p>
            <a:r>
              <a:rPr lang="en-US" sz="1200" kern="1200" dirty="0">
                <a:solidFill>
                  <a:schemeClr val="tx1"/>
                </a:solidFill>
                <a:effectLst/>
                <a:latin typeface="+mn-lt"/>
                <a:ea typeface="+mn-ea"/>
                <a:cs typeface="+mn-cs"/>
              </a:rPr>
              <a:t>Spirometry is underutilized in many clinical settings, contributing to significant issues of underdiagnosis and overdiagnosis.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For example, patients are sometimes grouped based on clinical diagnosis alone, which can lead to inaccuracies. Studies show that up to 26% of symptomatic individuals with </a:t>
            </a:r>
            <a:r>
              <a:rPr lang="en-US" sz="1200" kern="1200" dirty="0" err="1">
                <a:solidFill>
                  <a:schemeClr val="tx1"/>
                </a:solidFill>
                <a:effectLst/>
                <a:latin typeface="+mn-lt"/>
                <a:ea typeface="+mn-ea"/>
                <a:cs typeface="+mn-cs"/>
              </a:rPr>
              <a:t>spirometric</a:t>
            </a:r>
            <a:r>
              <a:rPr lang="en-US" sz="1200" kern="1200" dirty="0">
                <a:solidFill>
                  <a:schemeClr val="tx1"/>
                </a:solidFill>
                <a:effectLst/>
                <a:latin typeface="+mn-lt"/>
                <a:ea typeface="+mn-ea"/>
                <a:cs typeface="+mn-cs"/>
              </a:rPr>
              <a:t> evidence of COPD remain undiagnosed, while 25–50% of patients clinically labelled with COPD lack objective confirmation.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Current diagnostic practices are hindered by the underutilization of spirometry and the absence of robust, clinically validated databases. </a:t>
            </a:r>
            <a:endParaRPr lang="en-US" dirty="0"/>
          </a:p>
        </p:txBody>
      </p:sp>
      <p:sp>
        <p:nvSpPr>
          <p:cNvPr id="4" name="מציין מיקום של מספר שקופית 3"/>
          <p:cNvSpPr>
            <a:spLocks noGrp="1"/>
          </p:cNvSpPr>
          <p:nvPr>
            <p:ph type="sldNum" sz="quarter" idx="5"/>
          </p:nvPr>
        </p:nvSpPr>
        <p:spPr/>
        <p:txBody>
          <a:bodyPr/>
          <a:lstStyle/>
          <a:p>
            <a:fld id="{871B2431-D351-4C6E-A3CF-9DFAC0E3E050}" type="slidenum">
              <a:rPr lang="cs-CZ" smtClean="0"/>
              <a:t>3</a:t>
            </a:fld>
            <a:endParaRPr lang="cs-CZ"/>
          </a:p>
        </p:txBody>
      </p:sp>
    </p:spTree>
    <p:extLst>
      <p:ext uri="{BB962C8B-B14F-4D97-AF65-F5344CB8AC3E}">
        <p14:creationId xmlns:p14="http://schemas.microsoft.com/office/powerpoint/2010/main" val="975009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a:xfrm>
            <a:off x="2290763" y="512763"/>
            <a:ext cx="4562475" cy="2566987"/>
          </a:xfrm>
        </p:spPr>
      </p:sp>
      <p:sp>
        <p:nvSpPr>
          <p:cNvPr id="3" name="מציין מיקום של הערות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project aims to create an automated system for extracting key parameters from spirometry tests, ensuring diagnostic accuracy, and facilitating real-time data integration into a dynamic, continuously expanding database. </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database will serve as a cornerstone for advanced analytical studies, enabling the classification of new and existing COPD cases. Furthermore, it will leverage machine learning (ML) and deep learning (DL) algorithms to uncover novel clinical insights and improve patient stratification for therapeutic interventions.</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By addressing the limitations of current diagnostic practices and establishing a validated resource for COPD data, this project seeks to enhance early detection, reduce misdiagnosis, and provide a foundation for innovative clinical research. </a:t>
            </a:r>
          </a:p>
          <a:p>
            <a:endParaRPr lang="en-US" dirty="0"/>
          </a:p>
          <a:p>
            <a:endParaRPr lang="en-US" dirty="0"/>
          </a:p>
        </p:txBody>
      </p:sp>
      <p:sp>
        <p:nvSpPr>
          <p:cNvPr id="4" name="מציין מיקום של מספר שקופית 3"/>
          <p:cNvSpPr>
            <a:spLocks noGrp="1"/>
          </p:cNvSpPr>
          <p:nvPr>
            <p:ph type="sldNum" sz="quarter" idx="5"/>
          </p:nvPr>
        </p:nvSpPr>
        <p:spPr/>
        <p:txBody>
          <a:bodyPr/>
          <a:lstStyle/>
          <a:p>
            <a:fld id="{871B2431-D351-4C6E-A3CF-9DFAC0E3E050}" type="slidenum">
              <a:rPr lang="cs-CZ" smtClean="0"/>
              <a:t>4</a:t>
            </a:fld>
            <a:endParaRPr lang="cs-CZ"/>
          </a:p>
        </p:txBody>
      </p:sp>
    </p:spTree>
    <p:extLst>
      <p:ext uri="{BB962C8B-B14F-4D97-AF65-F5344CB8AC3E}">
        <p14:creationId xmlns:p14="http://schemas.microsoft.com/office/powerpoint/2010/main" val="42628771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DANIEL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field extraction plot: change label "extraction" to "accuracy" rate.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Helsinki Approval:</a:t>
            </a:r>
          </a:p>
          <a:p>
            <a:r>
              <a:rPr lang="en-US" dirty="0"/>
              <a:t>Ethical approval required to work with real clinical spirometry data.</a:t>
            </a:r>
          </a:p>
          <a:p>
            <a:endParaRPr lang="en-US" dirty="0"/>
          </a:p>
          <a:p>
            <a:r>
              <a:rPr lang="en-US" dirty="0"/>
              <a:t>Computing Power:</a:t>
            </a:r>
          </a:p>
          <a:p>
            <a:r>
              <a:rPr lang="en-US" dirty="0"/>
              <a:t>Heavy image processing (OCR) and large database management demand strong servers or cloud resources.</a:t>
            </a:r>
          </a:p>
          <a:p>
            <a:endParaRPr lang="en-US" dirty="0"/>
          </a:p>
          <a:p>
            <a:r>
              <a:rPr lang="en-US" dirty="0"/>
              <a:t>OCR Accuracy Challenges:</a:t>
            </a:r>
          </a:p>
          <a:p>
            <a:r>
              <a:rPr lang="en-US" dirty="0"/>
              <a:t>Variations in PDF formats and scan quality affect text recognition reliability; ongoing optimization needed.</a:t>
            </a:r>
          </a:p>
          <a:p>
            <a:endParaRPr lang="en-US" dirty="0"/>
          </a:p>
          <a:p>
            <a:r>
              <a:rPr lang="en-US" dirty="0"/>
              <a:t>Authorization &amp; Security:</a:t>
            </a:r>
          </a:p>
          <a:p>
            <a:r>
              <a:rPr lang="en-US" dirty="0"/>
              <a:t>Handling sensitive medical data demands strict security, encryption, and user authentication measures.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jpeg"/><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6418F">
                <a:alpha val="100000"/>
              </a:srgbClr>
            </a:gs>
            <a:gs pos="100000">
              <a:srgbClr val="51DBD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8224485" y="0"/>
            <a:ext cx="10063515" cy="10287000"/>
            <a:chOff x="0" y="0"/>
            <a:chExt cx="13418020" cy="13716000"/>
          </a:xfrm>
        </p:grpSpPr>
        <p:pic>
          <p:nvPicPr>
            <p:cNvPr id="3" name="Picture 3"/>
            <p:cNvPicPr>
              <a:picLocks noChangeAspect="1"/>
            </p:cNvPicPr>
            <p:nvPr/>
          </p:nvPicPr>
          <p:blipFill>
            <a:blip r:embed="rId2"/>
            <a:srcRect l="1036" r="33712"/>
            <a:stretch>
              <a:fillRect/>
            </a:stretch>
          </p:blipFill>
          <p:spPr>
            <a:xfrm>
              <a:off x="0" y="0"/>
              <a:ext cx="13418020" cy="13716000"/>
            </a:xfrm>
            <a:prstGeom prst="rect">
              <a:avLst/>
            </a:prstGeom>
          </p:spPr>
        </p:pic>
      </p:grpSp>
      <p:sp>
        <p:nvSpPr>
          <p:cNvPr id="4" name="Freeform 4"/>
          <p:cNvSpPr/>
          <p:nvPr/>
        </p:nvSpPr>
        <p:spPr>
          <a:xfrm>
            <a:off x="6525645"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3">
              <a:alphaModFix amt="42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379082" y="542722"/>
            <a:ext cx="17756518" cy="2103140"/>
          </a:xfrm>
          <a:prstGeom prst="rect">
            <a:avLst/>
          </a:prstGeom>
        </p:spPr>
        <p:txBody>
          <a:bodyPr wrap="square" lIns="0" tIns="0" rIns="0" bIns="0" rtlCol="0" anchor="t">
            <a:spAutoFit/>
          </a:bodyPr>
          <a:lstStyle/>
          <a:p>
            <a:pPr algn="l">
              <a:lnSpc>
                <a:spcPts val="8208"/>
              </a:lnSpc>
            </a:pPr>
            <a:r>
              <a:rPr lang="en-US" sz="6897" dirty="0">
                <a:solidFill>
                  <a:srgbClr val="FFFFFF"/>
                </a:solidFill>
                <a:latin typeface="Archive"/>
                <a:ea typeface="Archive"/>
                <a:cs typeface="Archive"/>
                <a:sym typeface="Archive"/>
              </a:rPr>
              <a:t>Establishing a Comprehensive and  dynamic COPD Database</a:t>
            </a:r>
          </a:p>
        </p:txBody>
      </p:sp>
      <p:sp>
        <p:nvSpPr>
          <p:cNvPr id="6" name="TextBox 6"/>
          <p:cNvSpPr txBox="1"/>
          <p:nvPr/>
        </p:nvSpPr>
        <p:spPr>
          <a:xfrm>
            <a:off x="212857" y="6134100"/>
            <a:ext cx="8231518" cy="4503669"/>
          </a:xfrm>
          <a:prstGeom prst="rect">
            <a:avLst/>
          </a:prstGeom>
        </p:spPr>
        <p:txBody>
          <a:bodyPr wrap="square" lIns="0" tIns="0" rIns="0" bIns="0" rtlCol="0" anchor="t">
            <a:spAutoFit/>
          </a:bodyPr>
          <a:lstStyle/>
          <a:p>
            <a:pPr algn="l">
              <a:lnSpc>
                <a:spcPct val="150000"/>
              </a:lnSpc>
              <a:spcBef>
                <a:spcPct val="0"/>
              </a:spcBef>
            </a:pPr>
            <a:r>
              <a:rPr lang="en-US" sz="4000" dirty="0">
                <a:solidFill>
                  <a:srgbClr val="FFFFFF"/>
                </a:solidFill>
                <a:latin typeface="Public Sans"/>
                <a:ea typeface="Public Sans"/>
                <a:cs typeface="Public Sans"/>
                <a:sym typeface="Public Sans"/>
              </a:rPr>
              <a:t>Noa Diskin &amp; Daniel Hagendorf</a:t>
            </a:r>
          </a:p>
          <a:p>
            <a:pPr algn="l">
              <a:lnSpc>
                <a:spcPct val="150000"/>
              </a:lnSpc>
              <a:spcBef>
                <a:spcPct val="0"/>
              </a:spcBef>
            </a:pPr>
            <a:endParaRPr lang="en-US" sz="4000" dirty="0">
              <a:solidFill>
                <a:srgbClr val="FFFFFF"/>
              </a:solidFill>
              <a:latin typeface="Public Sans"/>
              <a:ea typeface="Public Sans"/>
              <a:cs typeface="Public Sans"/>
              <a:sym typeface="Public Sans"/>
            </a:endParaRPr>
          </a:p>
          <a:p>
            <a:pPr algn="l">
              <a:lnSpc>
                <a:spcPct val="150000"/>
              </a:lnSpc>
              <a:spcBef>
                <a:spcPct val="0"/>
              </a:spcBef>
            </a:pPr>
            <a:r>
              <a:rPr lang="en-US" sz="4000" dirty="0">
                <a:solidFill>
                  <a:srgbClr val="FFFFFF"/>
                </a:solidFill>
                <a:latin typeface="Public Sans"/>
                <a:ea typeface="Public Sans"/>
                <a:cs typeface="Public Sans"/>
                <a:sym typeface="Public Sans"/>
              </a:rPr>
              <a:t>Supervisor: </a:t>
            </a:r>
          </a:p>
          <a:p>
            <a:pPr algn="l">
              <a:lnSpc>
                <a:spcPct val="150000"/>
              </a:lnSpc>
              <a:spcBef>
                <a:spcPct val="0"/>
              </a:spcBef>
            </a:pPr>
            <a:r>
              <a:rPr lang="en-US" sz="4000" dirty="0">
                <a:solidFill>
                  <a:srgbClr val="FFFFFF"/>
                </a:solidFill>
                <a:latin typeface="Public Sans"/>
                <a:ea typeface="Public Sans"/>
                <a:cs typeface="Public Sans"/>
                <a:sym typeface="Public Sans"/>
              </a:rPr>
              <a:t>Dr. Doron Schwarts Cohn</a:t>
            </a:r>
          </a:p>
          <a:p>
            <a:pPr algn="l">
              <a:lnSpc>
                <a:spcPct val="150000"/>
              </a:lnSpc>
              <a:spcBef>
                <a:spcPct val="0"/>
              </a:spcBef>
            </a:pPr>
            <a:endParaRPr lang="en-US" sz="4000" dirty="0">
              <a:solidFill>
                <a:srgbClr val="FFFFFF"/>
              </a:solidFill>
              <a:latin typeface="Public Sans"/>
              <a:ea typeface="Public Sans"/>
              <a:cs typeface="Public Sans"/>
              <a:sym typeface="Public Sans"/>
            </a:endParaRPr>
          </a:p>
        </p:txBody>
      </p:sp>
      <p:sp>
        <p:nvSpPr>
          <p:cNvPr id="7" name="TextBox 7"/>
          <p:cNvSpPr txBox="1"/>
          <p:nvPr/>
        </p:nvSpPr>
        <p:spPr>
          <a:xfrm>
            <a:off x="212857" y="3895062"/>
            <a:ext cx="9374518" cy="1733680"/>
          </a:xfrm>
          <a:prstGeom prst="rect">
            <a:avLst/>
          </a:prstGeom>
        </p:spPr>
        <p:txBody>
          <a:bodyPr wrap="square" lIns="0" tIns="0" rIns="0" bIns="0" rtlCol="0" anchor="t">
            <a:spAutoFit/>
          </a:bodyPr>
          <a:lstStyle/>
          <a:p>
            <a:pPr algn="l">
              <a:lnSpc>
                <a:spcPct val="150000"/>
              </a:lnSpc>
              <a:spcBef>
                <a:spcPct val="0"/>
              </a:spcBef>
            </a:pPr>
            <a:r>
              <a:rPr lang="en-US" sz="4000" dirty="0">
                <a:solidFill>
                  <a:srgbClr val="FFFFFF"/>
                </a:solidFill>
                <a:latin typeface="Public Sans"/>
                <a:ea typeface="Public Sans"/>
                <a:cs typeface="Public Sans"/>
                <a:sym typeface="Public Sans"/>
              </a:rPr>
              <a:t>Final Project</a:t>
            </a:r>
            <a:br>
              <a:rPr lang="en-US" sz="4000" dirty="0">
                <a:solidFill>
                  <a:srgbClr val="FFFFFF"/>
                </a:solidFill>
                <a:latin typeface="Public Sans"/>
                <a:ea typeface="Public Sans"/>
                <a:cs typeface="Public Sans"/>
                <a:sym typeface="Public Sans"/>
              </a:rPr>
            </a:br>
            <a:r>
              <a:rPr lang="en-US" sz="4000" dirty="0">
                <a:solidFill>
                  <a:srgbClr val="FFFFFF"/>
                </a:solidFill>
                <a:latin typeface="Public Sans"/>
                <a:ea typeface="Public Sans"/>
                <a:cs typeface="Public Sans"/>
                <a:sym typeface="Public Sans"/>
              </a:rPr>
              <a:t>Biomedical Engineering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30480" y="0"/>
            <a:ext cx="18288000" cy="7810500"/>
            <a:chOff x="0" y="0"/>
            <a:chExt cx="2408296" cy="2709333"/>
          </a:xfrm>
        </p:grpSpPr>
        <p:sp>
          <p:nvSpPr>
            <p:cNvPr id="6" name="Freeform 6"/>
            <p:cNvSpPr/>
            <p:nvPr/>
          </p:nvSpPr>
          <p:spPr>
            <a:xfrm>
              <a:off x="0" y="0"/>
              <a:ext cx="2408296" cy="2709333"/>
            </a:xfrm>
            <a:custGeom>
              <a:avLst/>
              <a:gdLst/>
              <a:ahLst/>
              <a:cxnLst/>
              <a:rect l="l" t="t" r="r" b="b"/>
              <a:pathLst>
                <a:path w="2408296" h="2709333">
                  <a:moveTo>
                    <a:pt x="0" y="0"/>
                  </a:moveTo>
                  <a:lnTo>
                    <a:pt x="2408296" y="0"/>
                  </a:lnTo>
                  <a:lnTo>
                    <a:pt x="2408296" y="2709333"/>
                  </a:lnTo>
                  <a:lnTo>
                    <a:pt x="0" y="2709333"/>
                  </a:lnTo>
                  <a:close/>
                </a:path>
              </a:pathLst>
            </a:custGeom>
            <a:solidFill>
              <a:srgbClr val="0A4893"/>
            </a:solidFill>
          </p:spPr>
          <p:txBody>
            <a:bodyPr/>
            <a:lstStyle/>
            <a:p>
              <a:endParaRPr lang="en-US"/>
            </a:p>
          </p:txBody>
        </p:sp>
        <p:sp>
          <p:nvSpPr>
            <p:cNvPr id="7" name="TextBox 7"/>
            <p:cNvSpPr txBox="1"/>
            <p:nvPr/>
          </p:nvSpPr>
          <p:spPr>
            <a:xfrm>
              <a:off x="0" y="-57150"/>
              <a:ext cx="2408296" cy="2766483"/>
            </a:xfrm>
            <a:prstGeom prst="rect">
              <a:avLst/>
            </a:prstGeom>
          </p:spPr>
          <p:txBody>
            <a:bodyPr lIns="50800" tIns="50800" rIns="50800" bIns="50800" rtlCol="0" anchor="ctr"/>
            <a:lstStyle/>
            <a:p>
              <a:pPr algn="ctr">
                <a:lnSpc>
                  <a:spcPts val="3499"/>
                </a:lnSpc>
              </a:pPr>
              <a:endParaRPr/>
            </a:p>
          </p:txBody>
        </p:sp>
      </p:grpSp>
      <p:sp>
        <p:nvSpPr>
          <p:cNvPr id="8" name="TextBox 8"/>
          <p:cNvSpPr txBox="1"/>
          <p:nvPr/>
        </p:nvSpPr>
        <p:spPr>
          <a:xfrm>
            <a:off x="407715" y="547215"/>
            <a:ext cx="8041968" cy="864589"/>
          </a:xfrm>
          <a:prstGeom prst="rect">
            <a:avLst/>
          </a:prstGeom>
        </p:spPr>
        <p:txBody>
          <a:bodyPr lIns="0" tIns="0" rIns="0" bIns="0" rtlCol="0" anchor="t">
            <a:spAutoFit/>
          </a:bodyPr>
          <a:lstStyle/>
          <a:p>
            <a:pPr algn="l">
              <a:lnSpc>
                <a:spcPts val="6891"/>
              </a:lnSpc>
            </a:pPr>
            <a:r>
              <a:rPr lang="en-US" sz="5790">
                <a:solidFill>
                  <a:srgbClr val="FFFFFF"/>
                </a:solidFill>
                <a:latin typeface="Archive"/>
                <a:ea typeface="Archive"/>
                <a:cs typeface="Archive"/>
                <a:sym typeface="Archive"/>
              </a:rPr>
              <a:t>COPD- Introduction  </a:t>
            </a:r>
          </a:p>
        </p:txBody>
      </p:sp>
      <p:sp>
        <p:nvSpPr>
          <p:cNvPr id="9" name="TextBox 9"/>
          <p:cNvSpPr txBox="1"/>
          <p:nvPr/>
        </p:nvSpPr>
        <p:spPr>
          <a:xfrm>
            <a:off x="228600" y="1866900"/>
            <a:ext cx="12672094" cy="6338530"/>
          </a:xfrm>
          <a:prstGeom prst="rect">
            <a:avLst/>
          </a:prstGeom>
        </p:spPr>
        <p:txBody>
          <a:bodyPr wrap="square" lIns="0" tIns="0" rIns="0" bIns="0" rtlCol="0" anchor="t">
            <a:spAutoFit/>
          </a:bodyPr>
          <a:lstStyle/>
          <a:p>
            <a:pPr algn="l">
              <a:lnSpc>
                <a:spcPts val="7200"/>
              </a:lnSpc>
            </a:pPr>
            <a:r>
              <a:rPr lang="en-US" sz="3600" dirty="0">
                <a:solidFill>
                  <a:srgbClr val="FFFFFF"/>
                </a:solidFill>
                <a:latin typeface="Public Sans"/>
                <a:ea typeface="Public Sans"/>
                <a:cs typeface="Public Sans"/>
                <a:sym typeface="Public Sans"/>
              </a:rPr>
              <a:t>3rd leading cause of death globally</a:t>
            </a:r>
          </a:p>
          <a:p>
            <a:pPr algn="l">
              <a:lnSpc>
                <a:spcPts val="7200"/>
              </a:lnSpc>
            </a:pPr>
            <a:r>
              <a:rPr lang="en-US" sz="3600" dirty="0">
                <a:solidFill>
                  <a:srgbClr val="FFFFFF"/>
                </a:solidFill>
                <a:latin typeface="Public Sans"/>
                <a:ea typeface="Public Sans"/>
                <a:cs typeface="Public Sans"/>
                <a:sym typeface="Public Sans"/>
              </a:rPr>
              <a:t>Symptoms: dyspnea, cough, sputum</a:t>
            </a:r>
          </a:p>
          <a:p>
            <a:pPr algn="l">
              <a:lnSpc>
                <a:spcPts val="7200"/>
              </a:lnSpc>
            </a:pPr>
            <a:r>
              <a:rPr lang="en-US" sz="3600" dirty="0">
                <a:solidFill>
                  <a:srgbClr val="FFFFFF"/>
                </a:solidFill>
                <a:latin typeface="Public Sans"/>
                <a:ea typeface="Public Sans"/>
                <a:cs typeface="Public Sans"/>
                <a:sym typeface="Public Sans"/>
              </a:rPr>
              <a:t>Diagnosis relies on spirometry: </a:t>
            </a:r>
          </a:p>
          <a:p>
            <a:pPr algn="l">
              <a:lnSpc>
                <a:spcPts val="7200"/>
              </a:lnSpc>
            </a:pPr>
            <a:r>
              <a:rPr lang="en-US" sz="3600" dirty="0">
                <a:solidFill>
                  <a:srgbClr val="FFFFFF"/>
                </a:solidFill>
                <a:latin typeface="Public Sans"/>
                <a:ea typeface="Public Sans"/>
                <a:cs typeface="Public Sans"/>
                <a:sym typeface="Public Sans"/>
              </a:rPr>
              <a:t> FEV1/FVC &lt; 0.7 [%]</a:t>
            </a:r>
          </a:p>
          <a:p>
            <a:pPr algn="l">
              <a:lnSpc>
                <a:spcPts val="7200"/>
              </a:lnSpc>
            </a:pPr>
            <a:r>
              <a:rPr lang="en-US" sz="3600" dirty="0">
                <a:solidFill>
                  <a:srgbClr val="FFFFFF"/>
                </a:solidFill>
                <a:latin typeface="Public Sans"/>
                <a:ea typeface="Public Sans"/>
                <a:cs typeface="Public Sans"/>
                <a:sym typeface="Public Sans"/>
              </a:rPr>
              <a:t>Phenotypic diversity</a:t>
            </a:r>
          </a:p>
          <a:p>
            <a:pPr algn="l">
              <a:lnSpc>
                <a:spcPts val="7200"/>
              </a:lnSpc>
            </a:pPr>
            <a:r>
              <a:rPr lang="en-US" sz="3600" dirty="0">
                <a:solidFill>
                  <a:srgbClr val="FFFFFF"/>
                </a:solidFill>
                <a:latin typeface="Public Sans"/>
                <a:ea typeface="Public Sans"/>
                <a:cs typeface="Public Sans"/>
                <a:sym typeface="Public Sans"/>
              </a:rPr>
              <a:t>complicates diagnosis</a:t>
            </a:r>
          </a:p>
          <a:p>
            <a:pPr algn="l">
              <a:lnSpc>
                <a:spcPts val="7200"/>
              </a:lnSpc>
            </a:pPr>
            <a:endParaRPr lang="en-US" sz="3600" dirty="0">
              <a:solidFill>
                <a:srgbClr val="FFFFFF"/>
              </a:solidFill>
              <a:latin typeface="Public Sans"/>
              <a:ea typeface="Public Sans"/>
              <a:cs typeface="Public Sans"/>
              <a:sym typeface="Public Sans"/>
            </a:endParaRPr>
          </a:p>
        </p:txBody>
      </p:sp>
      <p:pic>
        <p:nvPicPr>
          <p:cNvPr id="10" name="Picture 59" descr="a medical illustration of Chronic obstructive pulmonary disease COPD">
            <a:extLst>
              <a:ext uri="{FF2B5EF4-FFF2-40B4-BE49-F238E27FC236}">
                <a16:creationId xmlns:a16="http://schemas.microsoft.com/office/drawing/2014/main" id="{C8432C91-153F-962B-4E30-D7EC8BE1CFD6}"/>
              </a:ext>
            </a:extLst>
          </p:cNvPr>
          <p:cNvPicPr>
            <a:picLocks noChangeAspect="1"/>
          </p:cNvPicPr>
          <p:nvPr/>
        </p:nvPicPr>
        <p:blipFill>
          <a:blip r:embed="rId3">
            <a:extLst>
              <a:ext uri="{28A0092B-C50C-407E-A947-70E740481C1C}">
                <a14:useLocalDpi xmlns:a14="http://schemas.microsoft.com/office/drawing/2010/main" val="0"/>
              </a:ext>
            </a:extLst>
          </a:blip>
          <a:srcRect l="1834" t="2741" r="367" b="1932"/>
          <a:stretch/>
        </p:blipFill>
        <p:spPr bwMode="auto">
          <a:xfrm>
            <a:off x="6019800" y="4610100"/>
            <a:ext cx="12192000" cy="5638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4893"/>
        </a:solidFill>
        <a:effectLst/>
      </p:bgPr>
    </p:bg>
    <p:spTree>
      <p:nvGrpSpPr>
        <p:cNvPr id="1" name=""/>
        <p:cNvGrpSpPr/>
        <p:nvPr/>
      </p:nvGrpSpPr>
      <p:grpSpPr>
        <a:xfrm>
          <a:off x="0" y="0"/>
          <a:ext cx="0" cy="0"/>
          <a:chOff x="0" y="0"/>
          <a:chExt cx="0" cy="0"/>
        </a:xfrm>
      </p:grpSpPr>
      <p:sp>
        <p:nvSpPr>
          <p:cNvPr id="2" name="TextBox 2"/>
          <p:cNvSpPr txBox="1"/>
          <p:nvPr/>
        </p:nvSpPr>
        <p:spPr>
          <a:xfrm>
            <a:off x="946242" y="1487713"/>
            <a:ext cx="6080671" cy="1035722"/>
          </a:xfrm>
          <a:prstGeom prst="rect">
            <a:avLst/>
          </a:prstGeom>
        </p:spPr>
        <p:txBody>
          <a:bodyPr lIns="0" tIns="0" rIns="0" bIns="0" rtlCol="0" anchor="t">
            <a:spAutoFit/>
          </a:bodyPr>
          <a:lstStyle/>
          <a:p>
            <a:pPr marL="0" lvl="0" indent="0" algn="l">
              <a:lnSpc>
                <a:spcPts val="8539"/>
              </a:lnSpc>
              <a:spcBef>
                <a:spcPct val="0"/>
              </a:spcBef>
            </a:pPr>
            <a:r>
              <a:rPr lang="en-US" sz="6099" u="none" strike="noStrike">
                <a:solidFill>
                  <a:srgbClr val="FFFFFF"/>
                </a:solidFill>
                <a:latin typeface="Archive"/>
                <a:ea typeface="Archive"/>
                <a:cs typeface="Archive"/>
                <a:sym typeface="Archive"/>
              </a:rPr>
              <a:t>Research Gap</a:t>
            </a:r>
          </a:p>
        </p:txBody>
      </p:sp>
      <p:sp>
        <p:nvSpPr>
          <p:cNvPr id="3" name="TextBox 3"/>
          <p:cNvSpPr txBox="1"/>
          <p:nvPr/>
        </p:nvSpPr>
        <p:spPr>
          <a:xfrm>
            <a:off x="1038543" y="516243"/>
            <a:ext cx="5896067" cy="920140"/>
          </a:xfrm>
          <a:prstGeom prst="rect">
            <a:avLst/>
          </a:prstGeom>
        </p:spPr>
        <p:txBody>
          <a:bodyPr lIns="0" tIns="0" rIns="0" bIns="0" rtlCol="0" anchor="t">
            <a:spAutoFit/>
          </a:bodyPr>
          <a:lstStyle/>
          <a:p>
            <a:pPr marL="0" lvl="0" indent="0" algn="l">
              <a:lnSpc>
                <a:spcPts val="7559"/>
              </a:lnSpc>
              <a:spcBef>
                <a:spcPct val="0"/>
              </a:spcBef>
            </a:pPr>
            <a:r>
              <a:rPr lang="en-US" sz="5400" u="none" strike="noStrike">
                <a:solidFill>
                  <a:srgbClr val="FFFFFF"/>
                </a:solidFill>
                <a:latin typeface="Archive"/>
                <a:ea typeface="Archive"/>
                <a:cs typeface="Archive"/>
                <a:sym typeface="Archive"/>
              </a:rPr>
              <a:t>Current</a:t>
            </a:r>
          </a:p>
        </p:txBody>
      </p:sp>
      <p:sp>
        <p:nvSpPr>
          <p:cNvPr id="4" name="TextBox 4"/>
          <p:cNvSpPr txBox="1"/>
          <p:nvPr/>
        </p:nvSpPr>
        <p:spPr>
          <a:xfrm>
            <a:off x="946242" y="3236933"/>
            <a:ext cx="13801063" cy="6021367"/>
          </a:xfrm>
          <a:prstGeom prst="rect">
            <a:avLst/>
          </a:prstGeom>
        </p:spPr>
        <p:txBody>
          <a:bodyPr lIns="0" tIns="0" rIns="0" bIns="0" rtlCol="0" anchor="t">
            <a:spAutoFit/>
          </a:bodyPr>
          <a:lstStyle/>
          <a:p>
            <a:pPr algn="l">
              <a:lnSpc>
                <a:spcPts val="9792"/>
              </a:lnSpc>
            </a:pPr>
            <a:r>
              <a:rPr lang="en-US" sz="4896" dirty="0">
                <a:solidFill>
                  <a:srgbClr val="FFFFFF"/>
                </a:solidFill>
                <a:latin typeface="Public Sans"/>
                <a:ea typeface="Public Sans"/>
                <a:cs typeface="Public Sans"/>
                <a:sym typeface="Public Sans"/>
              </a:rPr>
              <a:t>Under/Overdiagnosis is widespread</a:t>
            </a:r>
          </a:p>
          <a:p>
            <a:pPr algn="l">
              <a:lnSpc>
                <a:spcPts val="9792"/>
              </a:lnSpc>
            </a:pPr>
            <a:r>
              <a:rPr lang="en-US" sz="4896" dirty="0">
                <a:solidFill>
                  <a:srgbClr val="FFFFFF"/>
                </a:solidFill>
                <a:latin typeface="Public Sans"/>
                <a:ea typeface="Public Sans"/>
                <a:cs typeface="Public Sans"/>
                <a:sym typeface="Public Sans"/>
              </a:rPr>
              <a:t>Spirometry is underutilized in clinics</a:t>
            </a:r>
          </a:p>
          <a:p>
            <a:pPr algn="l">
              <a:lnSpc>
                <a:spcPts val="9792"/>
              </a:lnSpc>
            </a:pPr>
            <a:r>
              <a:rPr lang="en-US" sz="4896" dirty="0">
                <a:solidFill>
                  <a:srgbClr val="FFFFFF"/>
                </a:solidFill>
                <a:latin typeface="Public Sans"/>
                <a:ea typeface="Public Sans"/>
                <a:cs typeface="Public Sans"/>
                <a:sym typeface="Public Sans"/>
              </a:rPr>
              <a:t>No validated database for COPD phenotypes</a:t>
            </a:r>
          </a:p>
          <a:p>
            <a:pPr algn="l">
              <a:lnSpc>
                <a:spcPts val="9792"/>
              </a:lnSpc>
            </a:pPr>
            <a:r>
              <a:rPr lang="en-US" sz="4896" dirty="0">
                <a:solidFill>
                  <a:srgbClr val="FFFFFF"/>
                </a:solidFill>
                <a:latin typeface="Public Sans"/>
                <a:ea typeface="Public Sans"/>
                <a:cs typeface="Public Sans"/>
                <a:sym typeface="Public Sans"/>
              </a:rPr>
              <a:t>Need for standardized, automated tool</a:t>
            </a:r>
          </a:p>
          <a:p>
            <a:pPr algn="l">
              <a:lnSpc>
                <a:spcPts val="9792"/>
              </a:lnSpc>
            </a:pPr>
            <a:endParaRPr lang="en-US" sz="4896" dirty="0">
              <a:solidFill>
                <a:srgbClr val="FFFFFF"/>
              </a:solidFill>
              <a:latin typeface="Public Sans"/>
              <a:ea typeface="Public Sans"/>
              <a:cs typeface="Public Sans"/>
              <a:sym typeface="Public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6418F">
                <a:alpha val="100000"/>
              </a:srgbClr>
            </a:gs>
            <a:gs pos="100000">
              <a:srgbClr val="3C9DC6">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59216" y="1354086"/>
            <a:ext cx="8832997" cy="1041100"/>
          </a:xfrm>
          <a:prstGeom prst="rect">
            <a:avLst/>
          </a:prstGeom>
        </p:spPr>
        <p:txBody>
          <a:bodyPr lIns="0" tIns="0" rIns="0" bIns="0" rtlCol="0" anchor="t">
            <a:spAutoFit/>
          </a:bodyPr>
          <a:lstStyle/>
          <a:p>
            <a:pPr marL="0" lvl="0" indent="0" algn="l">
              <a:lnSpc>
                <a:spcPts val="8540"/>
              </a:lnSpc>
              <a:spcBef>
                <a:spcPct val="0"/>
              </a:spcBef>
            </a:pPr>
            <a:r>
              <a:rPr lang="en-US" sz="6100" u="none" strike="noStrike">
                <a:solidFill>
                  <a:srgbClr val="FFFFFF"/>
                </a:solidFill>
                <a:latin typeface="Archive"/>
                <a:ea typeface="Archive"/>
                <a:cs typeface="Archive"/>
                <a:sym typeface="Archive"/>
              </a:rPr>
              <a:t>Project Objectives </a:t>
            </a:r>
          </a:p>
        </p:txBody>
      </p:sp>
      <p:sp>
        <p:nvSpPr>
          <p:cNvPr id="3" name="TextBox 3"/>
          <p:cNvSpPr txBox="1"/>
          <p:nvPr/>
        </p:nvSpPr>
        <p:spPr>
          <a:xfrm>
            <a:off x="1059216" y="382616"/>
            <a:ext cx="5896067" cy="920140"/>
          </a:xfrm>
          <a:prstGeom prst="rect">
            <a:avLst/>
          </a:prstGeom>
        </p:spPr>
        <p:txBody>
          <a:bodyPr lIns="0" tIns="0" rIns="0" bIns="0" rtlCol="0" anchor="t">
            <a:spAutoFit/>
          </a:bodyPr>
          <a:lstStyle/>
          <a:p>
            <a:pPr marL="0" lvl="0" indent="0" algn="l">
              <a:lnSpc>
                <a:spcPts val="7559"/>
              </a:lnSpc>
              <a:spcBef>
                <a:spcPct val="0"/>
              </a:spcBef>
            </a:pPr>
            <a:r>
              <a:rPr lang="en-US" sz="5400" u="none" strike="noStrike">
                <a:solidFill>
                  <a:srgbClr val="FFFFFF"/>
                </a:solidFill>
                <a:latin typeface="Archive"/>
                <a:ea typeface="Archive"/>
                <a:cs typeface="Archive"/>
                <a:sym typeface="Archive"/>
              </a:rPr>
              <a:t>Motivation</a:t>
            </a:r>
          </a:p>
        </p:txBody>
      </p:sp>
      <p:sp>
        <p:nvSpPr>
          <p:cNvPr id="4" name="TextBox 4"/>
          <p:cNvSpPr txBox="1"/>
          <p:nvPr/>
        </p:nvSpPr>
        <p:spPr>
          <a:xfrm>
            <a:off x="812459" y="3429893"/>
            <a:ext cx="16663082" cy="4362227"/>
          </a:xfrm>
          <a:prstGeom prst="rect">
            <a:avLst/>
          </a:prstGeom>
        </p:spPr>
        <p:txBody>
          <a:bodyPr lIns="0" tIns="0" rIns="0" bIns="0" rtlCol="0" anchor="t">
            <a:spAutoFit/>
          </a:bodyPr>
          <a:lstStyle/>
          <a:p>
            <a:pPr algn="l">
              <a:lnSpc>
                <a:spcPts val="5822"/>
              </a:lnSpc>
            </a:pPr>
            <a:r>
              <a:rPr lang="en-US" sz="4158">
                <a:solidFill>
                  <a:srgbClr val="FFFFFF"/>
                </a:solidFill>
                <a:latin typeface="Public Sans"/>
                <a:ea typeface="Public Sans"/>
                <a:cs typeface="Public Sans"/>
                <a:sym typeface="Public Sans"/>
              </a:rPr>
              <a:t>Develope a fast, reliable and automated system for spirometry data extraction</a:t>
            </a:r>
          </a:p>
          <a:p>
            <a:pPr algn="l">
              <a:lnSpc>
                <a:spcPts val="5822"/>
              </a:lnSpc>
            </a:pPr>
            <a:endParaRPr lang="en-US" sz="4158">
              <a:solidFill>
                <a:srgbClr val="FFFFFF"/>
              </a:solidFill>
              <a:latin typeface="Public Sans"/>
              <a:ea typeface="Public Sans"/>
              <a:cs typeface="Public Sans"/>
              <a:sym typeface="Public Sans"/>
            </a:endParaRPr>
          </a:p>
          <a:p>
            <a:pPr algn="l">
              <a:lnSpc>
                <a:spcPts val="5822"/>
              </a:lnSpc>
            </a:pPr>
            <a:r>
              <a:rPr lang="en-US" sz="4158">
                <a:solidFill>
                  <a:srgbClr val="FFFFFF"/>
                </a:solidFill>
                <a:latin typeface="Public Sans"/>
                <a:ea typeface="Public Sans"/>
                <a:cs typeface="Public Sans"/>
                <a:sym typeface="Public Sans"/>
              </a:rPr>
              <a:t>Establish a validated, dynamic COPD database</a:t>
            </a:r>
          </a:p>
          <a:p>
            <a:pPr algn="l">
              <a:lnSpc>
                <a:spcPts val="5822"/>
              </a:lnSpc>
            </a:pPr>
            <a:endParaRPr lang="en-US" sz="4158">
              <a:solidFill>
                <a:srgbClr val="FFFFFF"/>
              </a:solidFill>
              <a:latin typeface="Public Sans"/>
              <a:ea typeface="Public Sans"/>
              <a:cs typeface="Public Sans"/>
              <a:sym typeface="Public Sans"/>
            </a:endParaRPr>
          </a:p>
          <a:p>
            <a:pPr algn="l">
              <a:lnSpc>
                <a:spcPts val="5822"/>
              </a:lnSpc>
            </a:pPr>
            <a:r>
              <a:rPr lang="en-US" sz="4158">
                <a:solidFill>
                  <a:srgbClr val="FFFFFF"/>
                </a:solidFill>
                <a:latin typeface="Public Sans"/>
                <a:ea typeface="Public Sans"/>
                <a:cs typeface="Public Sans"/>
                <a:sym typeface="Public Sans"/>
              </a:rPr>
              <a:t>Enable ML/DL analytics for Future research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144000" cy="10287000"/>
            <a:chOff x="0" y="0"/>
            <a:chExt cx="12192000" cy="13716000"/>
          </a:xfrm>
        </p:grpSpPr>
        <p:pic>
          <p:nvPicPr>
            <p:cNvPr id="3" name="Picture 3"/>
            <p:cNvPicPr>
              <a:picLocks noChangeAspect="1"/>
            </p:cNvPicPr>
            <p:nvPr/>
          </p:nvPicPr>
          <p:blipFill>
            <a:blip r:embed="rId2"/>
            <a:srcRect l="7930" r="26473"/>
            <a:stretch>
              <a:fillRect/>
            </a:stretch>
          </p:blipFill>
          <p:spPr>
            <a:xfrm>
              <a:off x="0" y="0"/>
              <a:ext cx="5994400" cy="13716000"/>
            </a:xfrm>
            <a:prstGeom prst="rect">
              <a:avLst/>
            </a:prstGeom>
          </p:spPr>
        </p:pic>
        <p:pic>
          <p:nvPicPr>
            <p:cNvPr id="4" name="Picture 4"/>
            <p:cNvPicPr>
              <a:picLocks noChangeAspect="1"/>
            </p:cNvPicPr>
            <p:nvPr/>
          </p:nvPicPr>
          <p:blipFill>
            <a:blip r:embed="rId3"/>
            <a:srcRect l="32712" r="32712"/>
            <a:stretch>
              <a:fillRect/>
            </a:stretch>
          </p:blipFill>
          <p:spPr>
            <a:xfrm>
              <a:off x="6197600" y="0"/>
              <a:ext cx="5994400" cy="6756400"/>
            </a:xfrm>
            <a:prstGeom prst="rect">
              <a:avLst/>
            </a:prstGeom>
          </p:spPr>
        </p:pic>
        <p:pic>
          <p:nvPicPr>
            <p:cNvPr id="5" name="Picture 5"/>
            <p:cNvPicPr>
              <a:picLocks noChangeAspect="1"/>
            </p:cNvPicPr>
            <p:nvPr/>
          </p:nvPicPr>
          <p:blipFill>
            <a:blip r:embed="rId3"/>
            <a:srcRect l="32712" r="32712"/>
            <a:stretch>
              <a:fillRect/>
            </a:stretch>
          </p:blipFill>
          <p:spPr>
            <a:xfrm>
              <a:off x="6197600" y="6959600"/>
              <a:ext cx="5994400" cy="6756400"/>
            </a:xfrm>
            <a:prstGeom prst="rect">
              <a:avLst/>
            </a:prstGeom>
          </p:spPr>
        </p:pic>
      </p:grpSp>
      <p:grpSp>
        <p:nvGrpSpPr>
          <p:cNvPr id="6" name="Group 6"/>
          <p:cNvGrpSpPr/>
          <p:nvPr/>
        </p:nvGrpSpPr>
        <p:grpSpPr>
          <a:xfrm>
            <a:off x="4591050" y="-322705"/>
            <a:ext cx="13514652" cy="10935681"/>
            <a:chOff x="0" y="0"/>
            <a:chExt cx="3559414" cy="2880179"/>
          </a:xfrm>
        </p:grpSpPr>
        <p:sp>
          <p:nvSpPr>
            <p:cNvPr id="7" name="Freeform 7"/>
            <p:cNvSpPr/>
            <p:nvPr/>
          </p:nvSpPr>
          <p:spPr>
            <a:xfrm>
              <a:off x="0" y="0"/>
              <a:ext cx="3559415" cy="2880179"/>
            </a:xfrm>
            <a:custGeom>
              <a:avLst/>
              <a:gdLst/>
              <a:ahLst/>
              <a:cxnLst/>
              <a:rect l="l" t="t" r="r" b="b"/>
              <a:pathLst>
                <a:path w="3559415" h="2880179">
                  <a:moveTo>
                    <a:pt x="0" y="0"/>
                  </a:moveTo>
                  <a:lnTo>
                    <a:pt x="3559415" y="0"/>
                  </a:lnTo>
                  <a:lnTo>
                    <a:pt x="3559415" y="2880179"/>
                  </a:lnTo>
                  <a:lnTo>
                    <a:pt x="0" y="2880179"/>
                  </a:lnTo>
                  <a:close/>
                </a:path>
              </a:pathLst>
            </a:custGeom>
            <a:solidFill>
              <a:srgbClr val="0A4893"/>
            </a:solidFill>
          </p:spPr>
          <p:txBody>
            <a:bodyPr/>
            <a:lstStyle/>
            <a:p>
              <a:endParaRPr lang="en-US"/>
            </a:p>
          </p:txBody>
        </p:sp>
        <p:sp>
          <p:nvSpPr>
            <p:cNvPr id="8" name="TextBox 8"/>
            <p:cNvSpPr txBox="1"/>
            <p:nvPr/>
          </p:nvSpPr>
          <p:spPr>
            <a:xfrm>
              <a:off x="0" y="-47625"/>
              <a:ext cx="3559414" cy="2927804"/>
            </a:xfrm>
            <a:prstGeom prst="rect">
              <a:avLst/>
            </a:prstGeom>
          </p:spPr>
          <p:txBody>
            <a:bodyPr lIns="50800" tIns="50800" rIns="50800" bIns="50800" rtlCol="0" anchor="ctr"/>
            <a:lstStyle/>
            <a:p>
              <a:pPr algn="l">
                <a:lnSpc>
                  <a:spcPts val="3499"/>
                </a:lnSpc>
              </a:pPr>
              <a:endParaRPr/>
            </a:p>
            <a:p>
              <a:pPr algn="ctr">
                <a:lnSpc>
                  <a:spcPts val="3499"/>
                </a:lnSpc>
              </a:pPr>
              <a:endParaRPr/>
            </a:p>
          </p:txBody>
        </p:sp>
      </p:grpSp>
      <p:grpSp>
        <p:nvGrpSpPr>
          <p:cNvPr id="9" name="Group 9"/>
          <p:cNvGrpSpPr/>
          <p:nvPr/>
        </p:nvGrpSpPr>
        <p:grpSpPr>
          <a:xfrm>
            <a:off x="4821694" y="316815"/>
            <a:ext cx="6869220" cy="1784369"/>
            <a:chOff x="0" y="0"/>
            <a:chExt cx="9158960" cy="2379159"/>
          </a:xfrm>
        </p:grpSpPr>
        <p:sp>
          <p:nvSpPr>
            <p:cNvPr id="10" name="TextBox 10"/>
            <p:cNvSpPr txBox="1"/>
            <p:nvPr/>
          </p:nvSpPr>
          <p:spPr>
            <a:xfrm>
              <a:off x="0" y="1066979"/>
              <a:ext cx="9158960" cy="1312180"/>
            </a:xfrm>
            <a:prstGeom prst="rect">
              <a:avLst/>
            </a:prstGeom>
          </p:spPr>
          <p:txBody>
            <a:bodyPr lIns="0" tIns="0" rIns="0" bIns="0" rtlCol="0" anchor="t">
              <a:spAutoFit/>
            </a:bodyPr>
            <a:lstStyle/>
            <a:p>
              <a:pPr algn="ctr">
                <a:lnSpc>
                  <a:spcPts val="8360"/>
                </a:lnSpc>
                <a:spcBef>
                  <a:spcPct val="0"/>
                </a:spcBef>
              </a:pPr>
              <a:r>
                <a:rPr lang="en-US" sz="5971">
                  <a:solidFill>
                    <a:srgbClr val="FFFFFF"/>
                  </a:solidFill>
                  <a:latin typeface="Archive"/>
                  <a:ea typeface="Archive"/>
                  <a:cs typeface="Archive"/>
                  <a:sym typeface="Archive"/>
                </a:rPr>
                <a:t>Data Extraction </a:t>
              </a:r>
            </a:p>
          </p:txBody>
        </p:sp>
        <p:sp>
          <p:nvSpPr>
            <p:cNvPr id="11" name="TextBox 11"/>
            <p:cNvSpPr txBox="1"/>
            <p:nvPr/>
          </p:nvSpPr>
          <p:spPr>
            <a:xfrm>
              <a:off x="0" y="0"/>
              <a:ext cx="7861423" cy="883717"/>
            </a:xfrm>
            <a:prstGeom prst="rect">
              <a:avLst/>
            </a:prstGeom>
          </p:spPr>
          <p:txBody>
            <a:bodyPr lIns="0" tIns="0" rIns="0" bIns="0" rtlCol="0" anchor="t">
              <a:spAutoFit/>
            </a:bodyPr>
            <a:lstStyle/>
            <a:p>
              <a:pPr algn="l">
                <a:lnSpc>
                  <a:spcPts val="5206"/>
                </a:lnSpc>
              </a:pPr>
              <a:r>
                <a:rPr lang="en-US" sz="4375">
                  <a:solidFill>
                    <a:srgbClr val="FFFFFF"/>
                  </a:solidFill>
                  <a:latin typeface="Archive"/>
                  <a:ea typeface="Archive"/>
                  <a:cs typeface="Archive"/>
                  <a:sym typeface="Archive"/>
                </a:rPr>
                <a:t>Methods</a:t>
              </a:r>
            </a:p>
          </p:txBody>
        </p:sp>
      </p:grpSp>
      <p:sp>
        <p:nvSpPr>
          <p:cNvPr id="12" name="TextBox 12"/>
          <p:cNvSpPr txBox="1"/>
          <p:nvPr/>
        </p:nvSpPr>
        <p:spPr>
          <a:xfrm>
            <a:off x="4821694" y="2384523"/>
            <a:ext cx="12598043" cy="5990351"/>
          </a:xfrm>
          <a:prstGeom prst="rect">
            <a:avLst/>
          </a:prstGeom>
        </p:spPr>
        <p:txBody>
          <a:bodyPr lIns="0" tIns="0" rIns="0" bIns="0" rtlCol="0" anchor="t">
            <a:spAutoFit/>
          </a:bodyPr>
          <a:lstStyle/>
          <a:p>
            <a:pPr algn="just">
              <a:lnSpc>
                <a:spcPts val="4779"/>
              </a:lnSpc>
            </a:pPr>
            <a:r>
              <a:rPr lang="en-US" sz="3414" spc="269">
                <a:solidFill>
                  <a:srgbClr val="FFFFFF"/>
                </a:solidFill>
                <a:latin typeface="Public Sans"/>
                <a:ea typeface="Public Sans"/>
                <a:cs typeface="Public Sans"/>
                <a:sym typeface="Public Sans"/>
              </a:rPr>
              <a:t>Extracts spirometry data from PDF files with python</a:t>
            </a:r>
          </a:p>
          <a:p>
            <a:pPr algn="just">
              <a:lnSpc>
                <a:spcPts val="4779"/>
              </a:lnSpc>
            </a:pPr>
            <a:endParaRPr lang="en-US" sz="3414" spc="269">
              <a:solidFill>
                <a:srgbClr val="FFFFFF"/>
              </a:solidFill>
              <a:latin typeface="Public Sans"/>
              <a:ea typeface="Public Sans"/>
              <a:cs typeface="Public Sans"/>
              <a:sym typeface="Public Sans"/>
            </a:endParaRPr>
          </a:p>
          <a:p>
            <a:pPr algn="just">
              <a:lnSpc>
                <a:spcPts val="4779"/>
              </a:lnSpc>
            </a:pPr>
            <a:r>
              <a:rPr lang="en-US" sz="3414" spc="269">
                <a:solidFill>
                  <a:srgbClr val="FFFFFF"/>
                </a:solidFill>
                <a:latin typeface="Public Sans"/>
                <a:ea typeface="Public Sans"/>
                <a:cs typeface="Public Sans"/>
                <a:sym typeface="Public Sans"/>
              </a:rPr>
              <a:t>Handles variations in report formats</a:t>
            </a:r>
          </a:p>
          <a:p>
            <a:pPr algn="just">
              <a:lnSpc>
                <a:spcPts val="4779"/>
              </a:lnSpc>
            </a:pPr>
            <a:endParaRPr lang="en-US" sz="3414" spc="269">
              <a:solidFill>
                <a:srgbClr val="FFFFFF"/>
              </a:solidFill>
              <a:latin typeface="Public Sans"/>
              <a:ea typeface="Public Sans"/>
              <a:cs typeface="Public Sans"/>
              <a:sym typeface="Public Sans"/>
            </a:endParaRPr>
          </a:p>
          <a:p>
            <a:pPr algn="just">
              <a:lnSpc>
                <a:spcPts val="4779"/>
              </a:lnSpc>
            </a:pPr>
            <a:r>
              <a:rPr lang="en-US" sz="3414" spc="269">
                <a:solidFill>
                  <a:srgbClr val="FFFFFF"/>
                </a:solidFill>
                <a:latin typeface="Public Sans"/>
                <a:ea typeface="Public Sans"/>
                <a:cs typeface="Public Sans"/>
                <a:sym typeface="Public Sans"/>
              </a:rPr>
              <a:t>OCR (Tesseract / easyocr) with image pre-processing steps (opencv)</a:t>
            </a:r>
          </a:p>
          <a:p>
            <a:pPr algn="just">
              <a:lnSpc>
                <a:spcPts val="4779"/>
              </a:lnSpc>
            </a:pPr>
            <a:endParaRPr lang="en-US" sz="3414" spc="269">
              <a:solidFill>
                <a:srgbClr val="FFFFFF"/>
              </a:solidFill>
              <a:latin typeface="Public Sans"/>
              <a:ea typeface="Public Sans"/>
              <a:cs typeface="Public Sans"/>
              <a:sym typeface="Public Sans"/>
            </a:endParaRPr>
          </a:p>
          <a:p>
            <a:pPr algn="just">
              <a:lnSpc>
                <a:spcPts val="4779"/>
              </a:lnSpc>
            </a:pPr>
            <a:r>
              <a:rPr lang="en-US" sz="3414" spc="269">
                <a:solidFill>
                  <a:srgbClr val="FFFFFF"/>
                </a:solidFill>
                <a:latin typeface="Public Sans"/>
                <a:ea typeface="Public Sans"/>
                <a:cs typeface="Public Sans"/>
                <a:sym typeface="Public Sans"/>
              </a:rPr>
              <a:t>Dynamically find the best black and white threshold</a:t>
            </a:r>
          </a:p>
          <a:p>
            <a:pPr algn="just">
              <a:lnSpc>
                <a:spcPts val="4779"/>
              </a:lnSpc>
            </a:pPr>
            <a:endParaRPr lang="en-US" sz="3414" spc="269">
              <a:solidFill>
                <a:srgbClr val="FFFFFF"/>
              </a:solidFill>
              <a:latin typeface="Public Sans"/>
              <a:ea typeface="Public Sans"/>
              <a:cs typeface="Public Sans"/>
              <a:sym typeface="Public Sans"/>
            </a:endParaRPr>
          </a:p>
          <a:p>
            <a:pPr algn="just">
              <a:lnSpc>
                <a:spcPts val="4779"/>
              </a:lnSpc>
              <a:spcBef>
                <a:spcPct val="0"/>
              </a:spcBef>
            </a:pPr>
            <a:r>
              <a:rPr lang="en-US" sz="3414" spc="269">
                <a:solidFill>
                  <a:srgbClr val="FFFFFF"/>
                </a:solidFill>
                <a:latin typeface="Public Sans"/>
                <a:ea typeface="Public Sans"/>
                <a:cs typeface="Public Sans"/>
                <a:sym typeface="Public Sans"/>
              </a:rPr>
              <a:t>Regex patterns identify key measurements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6418F">
                <a:alpha val="100000"/>
              </a:srgbClr>
            </a:gs>
            <a:gs pos="100000">
              <a:srgbClr val="3C9DC6">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255350" y="4154298"/>
            <a:ext cx="11567401" cy="4858309"/>
          </a:xfrm>
          <a:custGeom>
            <a:avLst/>
            <a:gdLst/>
            <a:ahLst/>
            <a:cxnLst/>
            <a:rect l="l" t="t" r="r" b="b"/>
            <a:pathLst>
              <a:path w="11567401" h="4858309">
                <a:moveTo>
                  <a:pt x="0" y="0"/>
                </a:moveTo>
                <a:lnTo>
                  <a:pt x="11567401" y="0"/>
                </a:lnTo>
                <a:lnTo>
                  <a:pt x="11567401" y="4858309"/>
                </a:lnTo>
                <a:lnTo>
                  <a:pt x="0" y="4858309"/>
                </a:lnTo>
                <a:lnTo>
                  <a:pt x="0" y="0"/>
                </a:lnTo>
                <a:close/>
              </a:path>
            </a:pathLst>
          </a:custGeom>
          <a:blipFill>
            <a:blip r:embed="rId3">
              <a:alphaModFix amt="86000"/>
            </a:blip>
            <a:stretch>
              <a:fillRect/>
            </a:stretch>
          </a:blipFill>
        </p:spPr>
        <p:txBody>
          <a:bodyPr/>
          <a:lstStyle/>
          <a:p>
            <a:endParaRPr lang="en-US"/>
          </a:p>
        </p:txBody>
      </p:sp>
      <p:grpSp>
        <p:nvGrpSpPr>
          <p:cNvPr id="3" name="Group 3"/>
          <p:cNvGrpSpPr/>
          <p:nvPr/>
        </p:nvGrpSpPr>
        <p:grpSpPr>
          <a:xfrm>
            <a:off x="3941993" y="7191326"/>
            <a:ext cx="961429" cy="373261"/>
            <a:chOff x="0" y="0"/>
            <a:chExt cx="863600" cy="335280"/>
          </a:xfrm>
        </p:grpSpPr>
        <p:sp>
          <p:nvSpPr>
            <p:cNvPr id="4" name="Freeform 4"/>
            <p:cNvSpPr/>
            <p:nvPr/>
          </p:nvSpPr>
          <p:spPr>
            <a:xfrm>
              <a:off x="46990" y="50800"/>
              <a:ext cx="767080" cy="236220"/>
            </a:xfrm>
            <a:custGeom>
              <a:avLst/>
              <a:gdLst/>
              <a:ahLst/>
              <a:cxnLst/>
              <a:rect l="l" t="t" r="r" b="b"/>
              <a:pathLst>
                <a:path w="767080" h="236220">
                  <a:moveTo>
                    <a:pt x="88900" y="0"/>
                  </a:moveTo>
                  <a:cubicBezTo>
                    <a:pt x="514350" y="39370"/>
                    <a:pt x="561340" y="22860"/>
                    <a:pt x="613410" y="34290"/>
                  </a:cubicBezTo>
                  <a:cubicBezTo>
                    <a:pt x="664210" y="46990"/>
                    <a:pt x="736600" y="86360"/>
                    <a:pt x="755650" y="107950"/>
                  </a:cubicBezTo>
                  <a:cubicBezTo>
                    <a:pt x="763270" y="116840"/>
                    <a:pt x="764540" y="123190"/>
                    <a:pt x="764540" y="134620"/>
                  </a:cubicBezTo>
                  <a:cubicBezTo>
                    <a:pt x="763270" y="153670"/>
                    <a:pt x="755650" y="194310"/>
                    <a:pt x="737870" y="210820"/>
                  </a:cubicBezTo>
                  <a:cubicBezTo>
                    <a:pt x="720090" y="226060"/>
                    <a:pt x="681990" y="233680"/>
                    <a:pt x="660400" y="231140"/>
                  </a:cubicBezTo>
                  <a:cubicBezTo>
                    <a:pt x="642620" y="228600"/>
                    <a:pt x="624840" y="217170"/>
                    <a:pt x="613410" y="201930"/>
                  </a:cubicBezTo>
                  <a:cubicBezTo>
                    <a:pt x="600710" y="184150"/>
                    <a:pt x="590550" y="147320"/>
                    <a:pt x="596900" y="124460"/>
                  </a:cubicBezTo>
                  <a:cubicBezTo>
                    <a:pt x="603250" y="101600"/>
                    <a:pt x="632460" y="74930"/>
                    <a:pt x="652780" y="66040"/>
                  </a:cubicBezTo>
                  <a:cubicBezTo>
                    <a:pt x="669290" y="59690"/>
                    <a:pt x="690880" y="60960"/>
                    <a:pt x="707390" y="67310"/>
                  </a:cubicBezTo>
                  <a:cubicBezTo>
                    <a:pt x="723900" y="72390"/>
                    <a:pt x="741680" y="86360"/>
                    <a:pt x="750570" y="100330"/>
                  </a:cubicBezTo>
                  <a:cubicBezTo>
                    <a:pt x="760730" y="114300"/>
                    <a:pt x="767080" y="134620"/>
                    <a:pt x="764540" y="153670"/>
                  </a:cubicBezTo>
                  <a:cubicBezTo>
                    <a:pt x="762000" y="175260"/>
                    <a:pt x="741680" y="208280"/>
                    <a:pt x="722630" y="220980"/>
                  </a:cubicBezTo>
                  <a:cubicBezTo>
                    <a:pt x="707390" y="232410"/>
                    <a:pt x="687070" y="236220"/>
                    <a:pt x="669290" y="232410"/>
                  </a:cubicBezTo>
                  <a:cubicBezTo>
                    <a:pt x="647700" y="228600"/>
                    <a:pt x="601980" y="189230"/>
                    <a:pt x="603250" y="186690"/>
                  </a:cubicBezTo>
                  <a:cubicBezTo>
                    <a:pt x="604520" y="185420"/>
                    <a:pt x="650240" y="200660"/>
                    <a:pt x="648970" y="203200"/>
                  </a:cubicBezTo>
                  <a:cubicBezTo>
                    <a:pt x="647700" y="212090"/>
                    <a:pt x="490220" y="205740"/>
                    <a:pt x="400050" y="198120"/>
                  </a:cubicBezTo>
                  <a:cubicBezTo>
                    <a:pt x="293370" y="190500"/>
                    <a:pt x="111760" y="177800"/>
                    <a:pt x="53340" y="151130"/>
                  </a:cubicBezTo>
                  <a:cubicBezTo>
                    <a:pt x="30480" y="140970"/>
                    <a:pt x="19050" y="130810"/>
                    <a:pt x="11430" y="115570"/>
                  </a:cubicBezTo>
                  <a:cubicBezTo>
                    <a:pt x="2540" y="100330"/>
                    <a:pt x="0" y="76200"/>
                    <a:pt x="3810" y="59690"/>
                  </a:cubicBezTo>
                  <a:cubicBezTo>
                    <a:pt x="7620" y="43180"/>
                    <a:pt x="20320" y="24130"/>
                    <a:pt x="35560" y="13970"/>
                  </a:cubicBezTo>
                  <a:cubicBezTo>
                    <a:pt x="49530" y="3810"/>
                    <a:pt x="88900" y="0"/>
                    <a:pt x="88900" y="0"/>
                  </a:cubicBezTo>
                </a:path>
              </a:pathLst>
            </a:custGeom>
            <a:solidFill>
              <a:srgbClr val="E7191F"/>
            </a:solidFill>
            <a:ln cap="sq">
              <a:noFill/>
              <a:prstDash val="solid"/>
              <a:miter/>
            </a:ln>
          </p:spPr>
          <p:txBody>
            <a:bodyPr/>
            <a:lstStyle/>
            <a:p>
              <a:endParaRPr lang="en-US"/>
            </a:p>
          </p:txBody>
        </p:sp>
      </p:grpSp>
      <p:grpSp>
        <p:nvGrpSpPr>
          <p:cNvPr id="5" name="Group 5"/>
          <p:cNvGrpSpPr/>
          <p:nvPr/>
        </p:nvGrpSpPr>
        <p:grpSpPr>
          <a:xfrm>
            <a:off x="5756880" y="7191326"/>
            <a:ext cx="928910" cy="356294"/>
            <a:chOff x="0" y="0"/>
            <a:chExt cx="834390" cy="320040"/>
          </a:xfrm>
        </p:grpSpPr>
        <p:sp>
          <p:nvSpPr>
            <p:cNvPr id="6" name="Freeform 6"/>
            <p:cNvSpPr/>
            <p:nvPr/>
          </p:nvSpPr>
          <p:spPr>
            <a:xfrm>
              <a:off x="48260" y="50800"/>
              <a:ext cx="739140" cy="219710"/>
            </a:xfrm>
            <a:custGeom>
              <a:avLst/>
              <a:gdLst/>
              <a:ahLst/>
              <a:cxnLst/>
              <a:rect l="l" t="t" r="r" b="b"/>
              <a:pathLst>
                <a:path w="739140" h="219710">
                  <a:moveTo>
                    <a:pt x="80010" y="0"/>
                  </a:moveTo>
                  <a:cubicBezTo>
                    <a:pt x="445770" y="16510"/>
                    <a:pt x="624840" y="22860"/>
                    <a:pt x="685800" y="57150"/>
                  </a:cubicBezTo>
                  <a:cubicBezTo>
                    <a:pt x="713740" y="73660"/>
                    <a:pt x="728980" y="97790"/>
                    <a:pt x="734060" y="119380"/>
                  </a:cubicBezTo>
                  <a:cubicBezTo>
                    <a:pt x="739140" y="135890"/>
                    <a:pt x="734060" y="156210"/>
                    <a:pt x="726440" y="171450"/>
                  </a:cubicBezTo>
                  <a:cubicBezTo>
                    <a:pt x="718820" y="186690"/>
                    <a:pt x="703580" y="201930"/>
                    <a:pt x="688340" y="209550"/>
                  </a:cubicBezTo>
                  <a:cubicBezTo>
                    <a:pt x="673100" y="217170"/>
                    <a:pt x="651510" y="219710"/>
                    <a:pt x="635000" y="215900"/>
                  </a:cubicBezTo>
                  <a:cubicBezTo>
                    <a:pt x="618490" y="212090"/>
                    <a:pt x="599440" y="203200"/>
                    <a:pt x="589280" y="189230"/>
                  </a:cubicBezTo>
                  <a:cubicBezTo>
                    <a:pt x="575310" y="171450"/>
                    <a:pt x="566420" y="134620"/>
                    <a:pt x="570230" y="113030"/>
                  </a:cubicBezTo>
                  <a:cubicBezTo>
                    <a:pt x="574040" y="95250"/>
                    <a:pt x="586740" y="78740"/>
                    <a:pt x="599440" y="67310"/>
                  </a:cubicBezTo>
                  <a:cubicBezTo>
                    <a:pt x="613410" y="57150"/>
                    <a:pt x="632460" y="48260"/>
                    <a:pt x="650240" y="49530"/>
                  </a:cubicBezTo>
                  <a:cubicBezTo>
                    <a:pt x="671830" y="50800"/>
                    <a:pt x="707390" y="67310"/>
                    <a:pt x="720090" y="85090"/>
                  </a:cubicBezTo>
                  <a:cubicBezTo>
                    <a:pt x="734060" y="104140"/>
                    <a:pt x="736600" y="142240"/>
                    <a:pt x="730250" y="163830"/>
                  </a:cubicBezTo>
                  <a:cubicBezTo>
                    <a:pt x="725170" y="180340"/>
                    <a:pt x="709930" y="195580"/>
                    <a:pt x="695960" y="204470"/>
                  </a:cubicBezTo>
                  <a:cubicBezTo>
                    <a:pt x="681990" y="213360"/>
                    <a:pt x="668020" y="215900"/>
                    <a:pt x="643890" y="217170"/>
                  </a:cubicBezTo>
                  <a:cubicBezTo>
                    <a:pt x="586740" y="219710"/>
                    <a:pt x="450850" y="181610"/>
                    <a:pt x="353060" y="168910"/>
                  </a:cubicBezTo>
                  <a:cubicBezTo>
                    <a:pt x="251460" y="157480"/>
                    <a:pt x="90170" y="167640"/>
                    <a:pt x="43180" y="147320"/>
                  </a:cubicBezTo>
                  <a:cubicBezTo>
                    <a:pt x="27940" y="140970"/>
                    <a:pt x="22860" y="133350"/>
                    <a:pt x="15240" y="123190"/>
                  </a:cubicBezTo>
                  <a:cubicBezTo>
                    <a:pt x="7620" y="109220"/>
                    <a:pt x="0" y="86360"/>
                    <a:pt x="2540" y="68580"/>
                  </a:cubicBezTo>
                  <a:cubicBezTo>
                    <a:pt x="3810" y="50800"/>
                    <a:pt x="15240" y="30480"/>
                    <a:pt x="27940" y="19050"/>
                  </a:cubicBezTo>
                  <a:cubicBezTo>
                    <a:pt x="40640" y="7620"/>
                    <a:pt x="80010" y="0"/>
                    <a:pt x="80010" y="0"/>
                  </a:cubicBezTo>
                </a:path>
              </a:pathLst>
            </a:custGeom>
            <a:solidFill>
              <a:srgbClr val="E7191F"/>
            </a:solidFill>
            <a:ln cap="sq">
              <a:noFill/>
              <a:prstDash val="solid"/>
              <a:miter/>
            </a:ln>
          </p:spPr>
          <p:txBody>
            <a:bodyPr/>
            <a:lstStyle/>
            <a:p>
              <a:endParaRPr lang="en-US"/>
            </a:p>
          </p:txBody>
        </p:sp>
      </p:grpSp>
      <p:grpSp>
        <p:nvGrpSpPr>
          <p:cNvPr id="7" name="Group 7"/>
          <p:cNvGrpSpPr/>
          <p:nvPr/>
        </p:nvGrpSpPr>
        <p:grpSpPr>
          <a:xfrm>
            <a:off x="6903264" y="7182842"/>
            <a:ext cx="1073124" cy="364777"/>
            <a:chOff x="0" y="0"/>
            <a:chExt cx="963930" cy="327660"/>
          </a:xfrm>
        </p:grpSpPr>
        <p:sp>
          <p:nvSpPr>
            <p:cNvPr id="8" name="Freeform 8"/>
            <p:cNvSpPr/>
            <p:nvPr/>
          </p:nvSpPr>
          <p:spPr>
            <a:xfrm>
              <a:off x="48260" y="55880"/>
              <a:ext cx="866140" cy="224790"/>
            </a:xfrm>
            <a:custGeom>
              <a:avLst/>
              <a:gdLst/>
              <a:ahLst/>
              <a:cxnLst/>
              <a:rect l="l" t="t" r="r" b="b"/>
              <a:pathLst>
                <a:path w="866140" h="224790">
                  <a:moveTo>
                    <a:pt x="80010" y="0"/>
                  </a:moveTo>
                  <a:cubicBezTo>
                    <a:pt x="584200" y="8890"/>
                    <a:pt x="659130" y="71120"/>
                    <a:pt x="708660" y="72390"/>
                  </a:cubicBezTo>
                  <a:cubicBezTo>
                    <a:pt x="737870" y="72390"/>
                    <a:pt x="759460" y="48260"/>
                    <a:pt x="777240" y="46990"/>
                  </a:cubicBezTo>
                  <a:cubicBezTo>
                    <a:pt x="788670" y="45720"/>
                    <a:pt x="795020" y="46990"/>
                    <a:pt x="805180" y="52070"/>
                  </a:cubicBezTo>
                  <a:cubicBezTo>
                    <a:pt x="819150" y="57150"/>
                    <a:pt x="839470" y="71120"/>
                    <a:pt x="849630" y="85090"/>
                  </a:cubicBezTo>
                  <a:cubicBezTo>
                    <a:pt x="858520" y="99060"/>
                    <a:pt x="866140" y="120650"/>
                    <a:pt x="863600" y="138430"/>
                  </a:cubicBezTo>
                  <a:cubicBezTo>
                    <a:pt x="861060" y="161290"/>
                    <a:pt x="840740" y="194310"/>
                    <a:pt x="821690" y="208280"/>
                  </a:cubicBezTo>
                  <a:cubicBezTo>
                    <a:pt x="806450" y="218440"/>
                    <a:pt x="784860" y="222250"/>
                    <a:pt x="768350" y="219710"/>
                  </a:cubicBezTo>
                  <a:cubicBezTo>
                    <a:pt x="750570" y="218440"/>
                    <a:pt x="730250" y="210820"/>
                    <a:pt x="717550" y="196850"/>
                  </a:cubicBezTo>
                  <a:cubicBezTo>
                    <a:pt x="702310" y="180340"/>
                    <a:pt x="689610" y="142240"/>
                    <a:pt x="692150" y="119380"/>
                  </a:cubicBezTo>
                  <a:cubicBezTo>
                    <a:pt x="693420" y="101600"/>
                    <a:pt x="704850" y="82550"/>
                    <a:pt x="717550" y="71120"/>
                  </a:cubicBezTo>
                  <a:cubicBezTo>
                    <a:pt x="730250" y="58420"/>
                    <a:pt x="749300" y="48260"/>
                    <a:pt x="768350" y="46990"/>
                  </a:cubicBezTo>
                  <a:cubicBezTo>
                    <a:pt x="789940" y="46990"/>
                    <a:pt x="828040" y="59690"/>
                    <a:pt x="843280" y="77470"/>
                  </a:cubicBezTo>
                  <a:cubicBezTo>
                    <a:pt x="858520" y="96520"/>
                    <a:pt x="864870" y="134620"/>
                    <a:pt x="861060" y="157480"/>
                  </a:cubicBezTo>
                  <a:cubicBezTo>
                    <a:pt x="857250" y="175260"/>
                    <a:pt x="843280" y="191770"/>
                    <a:pt x="829310" y="203200"/>
                  </a:cubicBezTo>
                  <a:cubicBezTo>
                    <a:pt x="815340" y="213360"/>
                    <a:pt x="797560" y="217170"/>
                    <a:pt x="777240" y="220980"/>
                  </a:cubicBezTo>
                  <a:cubicBezTo>
                    <a:pt x="750570" y="224790"/>
                    <a:pt x="716280" y="224790"/>
                    <a:pt x="679450" y="219710"/>
                  </a:cubicBezTo>
                  <a:cubicBezTo>
                    <a:pt x="628650" y="210820"/>
                    <a:pt x="575310" y="173990"/>
                    <a:pt x="501650" y="161290"/>
                  </a:cubicBezTo>
                  <a:cubicBezTo>
                    <a:pt x="388620" y="142240"/>
                    <a:pt x="132080" y="176530"/>
                    <a:pt x="60960" y="153670"/>
                  </a:cubicBezTo>
                  <a:cubicBezTo>
                    <a:pt x="36830" y="146050"/>
                    <a:pt x="25400" y="137160"/>
                    <a:pt x="16510" y="121920"/>
                  </a:cubicBezTo>
                  <a:cubicBezTo>
                    <a:pt x="6350" y="107950"/>
                    <a:pt x="0" y="85090"/>
                    <a:pt x="2540" y="68580"/>
                  </a:cubicBezTo>
                  <a:cubicBezTo>
                    <a:pt x="5080" y="50800"/>
                    <a:pt x="15240" y="30480"/>
                    <a:pt x="27940" y="19050"/>
                  </a:cubicBezTo>
                  <a:cubicBezTo>
                    <a:pt x="41910" y="7620"/>
                    <a:pt x="80010" y="0"/>
                    <a:pt x="80010" y="0"/>
                  </a:cubicBezTo>
                </a:path>
              </a:pathLst>
            </a:custGeom>
            <a:solidFill>
              <a:srgbClr val="E7191F"/>
            </a:solidFill>
            <a:ln cap="sq">
              <a:noFill/>
              <a:prstDash val="solid"/>
              <a:miter/>
            </a:ln>
          </p:spPr>
          <p:txBody>
            <a:bodyPr/>
            <a:lstStyle/>
            <a:p>
              <a:endParaRPr lang="en-US"/>
            </a:p>
          </p:txBody>
        </p:sp>
      </p:grpSp>
      <p:sp>
        <p:nvSpPr>
          <p:cNvPr id="9" name="TextBox 9"/>
          <p:cNvSpPr txBox="1"/>
          <p:nvPr/>
        </p:nvSpPr>
        <p:spPr>
          <a:xfrm>
            <a:off x="789722" y="1504525"/>
            <a:ext cx="4937569" cy="1041100"/>
          </a:xfrm>
          <a:prstGeom prst="rect">
            <a:avLst/>
          </a:prstGeom>
        </p:spPr>
        <p:txBody>
          <a:bodyPr lIns="0" tIns="0" rIns="0" bIns="0" rtlCol="0" anchor="t">
            <a:spAutoFit/>
          </a:bodyPr>
          <a:lstStyle/>
          <a:p>
            <a:pPr marL="0" lvl="0" indent="0" algn="l">
              <a:lnSpc>
                <a:spcPts val="8540"/>
              </a:lnSpc>
              <a:spcBef>
                <a:spcPct val="0"/>
              </a:spcBef>
            </a:pPr>
            <a:r>
              <a:rPr lang="en-US" sz="6100" u="none" strike="noStrike">
                <a:solidFill>
                  <a:srgbClr val="FFFFFF"/>
                </a:solidFill>
                <a:latin typeface="Archive"/>
                <a:ea typeface="Archive"/>
                <a:cs typeface="Archive"/>
                <a:sym typeface="Archive"/>
              </a:rPr>
              <a:t>Validation</a:t>
            </a:r>
          </a:p>
        </p:txBody>
      </p:sp>
      <p:sp>
        <p:nvSpPr>
          <p:cNvPr id="10" name="TextBox 10"/>
          <p:cNvSpPr txBox="1"/>
          <p:nvPr/>
        </p:nvSpPr>
        <p:spPr>
          <a:xfrm>
            <a:off x="789722" y="516716"/>
            <a:ext cx="5896067" cy="919193"/>
          </a:xfrm>
          <a:prstGeom prst="rect">
            <a:avLst/>
          </a:prstGeom>
        </p:spPr>
        <p:txBody>
          <a:bodyPr lIns="0" tIns="0" rIns="0" bIns="0" rtlCol="0" anchor="t">
            <a:spAutoFit/>
          </a:bodyPr>
          <a:lstStyle/>
          <a:p>
            <a:pPr marL="0" lvl="0" indent="0" algn="l">
              <a:lnSpc>
                <a:spcPts val="7559"/>
              </a:lnSpc>
              <a:spcBef>
                <a:spcPct val="0"/>
              </a:spcBef>
            </a:pPr>
            <a:r>
              <a:rPr lang="en-US" sz="5399" u="none" strike="noStrike">
                <a:solidFill>
                  <a:srgbClr val="FFFFFF"/>
                </a:solidFill>
                <a:latin typeface="Archive"/>
                <a:ea typeface="Archive"/>
                <a:cs typeface="Archive"/>
                <a:sym typeface="Archive"/>
              </a:rPr>
              <a:t>Methods</a:t>
            </a:r>
          </a:p>
        </p:txBody>
      </p:sp>
      <p:grpSp>
        <p:nvGrpSpPr>
          <p:cNvPr id="11" name="Group 11"/>
          <p:cNvGrpSpPr/>
          <p:nvPr/>
        </p:nvGrpSpPr>
        <p:grpSpPr>
          <a:xfrm>
            <a:off x="9955024" y="276282"/>
            <a:ext cx="3735454" cy="3611887"/>
            <a:chOff x="0" y="0"/>
            <a:chExt cx="812800" cy="785913"/>
          </a:xfrm>
        </p:grpSpPr>
        <p:sp>
          <p:nvSpPr>
            <p:cNvPr id="12" name="Freeform 12"/>
            <p:cNvSpPr/>
            <p:nvPr/>
          </p:nvSpPr>
          <p:spPr>
            <a:xfrm>
              <a:off x="0" y="0"/>
              <a:ext cx="812800" cy="785913"/>
            </a:xfrm>
            <a:custGeom>
              <a:avLst/>
              <a:gdLst/>
              <a:ahLst/>
              <a:cxnLst/>
              <a:rect l="l" t="t" r="r" b="b"/>
              <a:pathLst>
                <a:path w="812800" h="785913">
                  <a:moveTo>
                    <a:pt x="406400" y="0"/>
                  </a:moveTo>
                  <a:cubicBezTo>
                    <a:pt x="181951" y="0"/>
                    <a:pt x="0" y="175933"/>
                    <a:pt x="0" y="392957"/>
                  </a:cubicBezTo>
                  <a:cubicBezTo>
                    <a:pt x="0" y="609980"/>
                    <a:pt x="181951" y="785913"/>
                    <a:pt x="406400" y="785913"/>
                  </a:cubicBezTo>
                  <a:cubicBezTo>
                    <a:pt x="630849" y="785913"/>
                    <a:pt x="812800" y="609980"/>
                    <a:pt x="812800" y="392957"/>
                  </a:cubicBezTo>
                  <a:cubicBezTo>
                    <a:pt x="812800" y="175933"/>
                    <a:pt x="630849" y="0"/>
                    <a:pt x="406400" y="0"/>
                  </a:cubicBezTo>
                  <a:close/>
                </a:path>
              </a:pathLst>
            </a:custGeom>
            <a:solidFill>
              <a:srgbClr val="000000">
                <a:alpha val="0"/>
              </a:srgbClr>
            </a:solidFill>
            <a:ln w="38100" cap="sq">
              <a:solidFill>
                <a:srgbClr val="FFFFFF"/>
              </a:solidFill>
              <a:prstDash val="solid"/>
              <a:miter/>
            </a:ln>
          </p:spPr>
          <p:txBody>
            <a:bodyPr/>
            <a:lstStyle/>
            <a:p>
              <a:endParaRPr lang="en-US"/>
            </a:p>
          </p:txBody>
        </p:sp>
        <p:sp>
          <p:nvSpPr>
            <p:cNvPr id="13" name="TextBox 13"/>
            <p:cNvSpPr txBox="1"/>
            <p:nvPr/>
          </p:nvSpPr>
          <p:spPr>
            <a:xfrm>
              <a:off x="76200" y="7004"/>
              <a:ext cx="660400" cy="705229"/>
            </a:xfrm>
            <a:prstGeom prst="rect">
              <a:avLst/>
            </a:prstGeom>
          </p:spPr>
          <p:txBody>
            <a:bodyPr lIns="52154" tIns="52154" rIns="52154" bIns="52154" rtlCol="0" anchor="ctr"/>
            <a:lstStyle/>
            <a:p>
              <a:pPr algn="ctr">
                <a:lnSpc>
                  <a:spcPts val="3500"/>
                </a:lnSpc>
              </a:pPr>
              <a:endParaRPr/>
            </a:p>
          </p:txBody>
        </p:sp>
      </p:grpSp>
      <p:sp>
        <p:nvSpPr>
          <p:cNvPr id="14" name="TextBox 14"/>
          <p:cNvSpPr txBox="1"/>
          <p:nvPr/>
        </p:nvSpPr>
        <p:spPr>
          <a:xfrm>
            <a:off x="10221603" y="1444316"/>
            <a:ext cx="3354450" cy="2033032"/>
          </a:xfrm>
          <a:prstGeom prst="rect">
            <a:avLst/>
          </a:prstGeom>
        </p:spPr>
        <p:txBody>
          <a:bodyPr lIns="0" tIns="0" rIns="0" bIns="0" rtlCol="0" anchor="t">
            <a:spAutoFit/>
          </a:bodyPr>
          <a:lstStyle/>
          <a:p>
            <a:pPr marL="0" lvl="0" indent="0" algn="ctr">
              <a:lnSpc>
                <a:spcPts val="4045"/>
              </a:lnSpc>
              <a:spcBef>
                <a:spcPct val="0"/>
              </a:spcBef>
            </a:pPr>
            <a:r>
              <a:rPr lang="en-US" sz="3399" u="none" strike="noStrike">
                <a:solidFill>
                  <a:srgbClr val="FFFFFF"/>
                </a:solidFill>
                <a:latin typeface="Public Sans"/>
                <a:ea typeface="Public Sans"/>
                <a:cs typeface="Public Sans"/>
                <a:sym typeface="Public Sans"/>
              </a:rPr>
              <a:t>Handles rounding errors and missing decimals</a:t>
            </a:r>
          </a:p>
        </p:txBody>
      </p:sp>
      <p:grpSp>
        <p:nvGrpSpPr>
          <p:cNvPr id="15" name="Group 15"/>
          <p:cNvGrpSpPr/>
          <p:nvPr/>
        </p:nvGrpSpPr>
        <p:grpSpPr>
          <a:xfrm>
            <a:off x="11822751" y="6250508"/>
            <a:ext cx="3887607" cy="3936341"/>
            <a:chOff x="0" y="0"/>
            <a:chExt cx="5183476" cy="5248455"/>
          </a:xfrm>
        </p:grpSpPr>
        <p:grpSp>
          <p:nvGrpSpPr>
            <p:cNvPr id="16" name="Group 16"/>
            <p:cNvGrpSpPr/>
            <p:nvPr/>
          </p:nvGrpSpPr>
          <p:grpSpPr>
            <a:xfrm>
              <a:off x="0" y="0"/>
              <a:ext cx="5183476" cy="5248455"/>
              <a:chOff x="0" y="0"/>
              <a:chExt cx="812800" cy="822989"/>
            </a:xfrm>
          </p:grpSpPr>
          <p:sp>
            <p:nvSpPr>
              <p:cNvPr id="17" name="Freeform 17"/>
              <p:cNvSpPr/>
              <p:nvPr/>
            </p:nvSpPr>
            <p:spPr>
              <a:xfrm>
                <a:off x="0" y="0"/>
                <a:ext cx="812800" cy="822989"/>
              </a:xfrm>
              <a:custGeom>
                <a:avLst/>
                <a:gdLst/>
                <a:ahLst/>
                <a:cxnLst/>
                <a:rect l="l" t="t" r="r" b="b"/>
                <a:pathLst>
                  <a:path w="812800" h="822989">
                    <a:moveTo>
                      <a:pt x="406400" y="0"/>
                    </a:moveTo>
                    <a:cubicBezTo>
                      <a:pt x="181951" y="0"/>
                      <a:pt x="0" y="184232"/>
                      <a:pt x="0" y="411495"/>
                    </a:cubicBezTo>
                    <a:cubicBezTo>
                      <a:pt x="0" y="638757"/>
                      <a:pt x="181951" y="822989"/>
                      <a:pt x="406400" y="822989"/>
                    </a:cubicBezTo>
                    <a:cubicBezTo>
                      <a:pt x="630849" y="822989"/>
                      <a:pt x="812800" y="638757"/>
                      <a:pt x="812800" y="411495"/>
                    </a:cubicBezTo>
                    <a:cubicBezTo>
                      <a:pt x="812800" y="184232"/>
                      <a:pt x="630849" y="0"/>
                      <a:pt x="406400" y="0"/>
                    </a:cubicBezTo>
                    <a:close/>
                  </a:path>
                </a:pathLst>
              </a:custGeom>
              <a:solidFill>
                <a:srgbClr val="000000">
                  <a:alpha val="0"/>
                </a:srgbClr>
              </a:solidFill>
              <a:ln w="38100" cap="sq">
                <a:solidFill>
                  <a:srgbClr val="FFFFFF"/>
                </a:solidFill>
                <a:prstDash val="solid"/>
                <a:miter/>
              </a:ln>
            </p:spPr>
            <p:txBody>
              <a:bodyPr/>
              <a:lstStyle/>
              <a:p>
                <a:endParaRPr lang="en-US"/>
              </a:p>
            </p:txBody>
          </p:sp>
          <p:sp>
            <p:nvSpPr>
              <p:cNvPr id="18" name="TextBox 18"/>
              <p:cNvSpPr txBox="1"/>
              <p:nvPr/>
            </p:nvSpPr>
            <p:spPr>
              <a:xfrm>
                <a:off x="76200" y="20005"/>
                <a:ext cx="660400" cy="725829"/>
              </a:xfrm>
              <a:prstGeom prst="rect">
                <a:avLst/>
              </a:prstGeom>
            </p:spPr>
            <p:txBody>
              <a:bodyPr lIns="50800" tIns="50800" rIns="50800" bIns="50800" rtlCol="0" anchor="ctr"/>
              <a:lstStyle/>
              <a:p>
                <a:pPr algn="ctr">
                  <a:lnSpc>
                    <a:spcPts val="3499"/>
                  </a:lnSpc>
                </a:pPr>
                <a:endParaRPr/>
              </a:p>
            </p:txBody>
          </p:sp>
        </p:grpSp>
        <p:sp>
          <p:nvSpPr>
            <p:cNvPr id="19" name="TextBox 19"/>
            <p:cNvSpPr txBox="1"/>
            <p:nvPr/>
          </p:nvSpPr>
          <p:spPr>
            <a:xfrm>
              <a:off x="98330" y="1265698"/>
              <a:ext cx="4986816" cy="2707534"/>
            </a:xfrm>
            <a:prstGeom prst="rect">
              <a:avLst/>
            </a:prstGeom>
          </p:spPr>
          <p:txBody>
            <a:bodyPr lIns="0" tIns="0" rIns="0" bIns="0" rtlCol="0" anchor="t">
              <a:spAutoFit/>
            </a:bodyPr>
            <a:lstStyle/>
            <a:p>
              <a:pPr algn="ctr">
                <a:lnSpc>
                  <a:spcPts val="4045"/>
                </a:lnSpc>
              </a:pPr>
              <a:r>
                <a:rPr lang="en-US" sz="3399">
                  <a:solidFill>
                    <a:srgbClr val="FFFFFF"/>
                  </a:solidFill>
                  <a:latin typeface="Public Sans"/>
                  <a:ea typeface="Public Sans"/>
                  <a:cs typeface="Public Sans"/>
                  <a:sym typeface="Public Sans"/>
                </a:rPr>
                <a:t>Validates numerical logic between measurements</a:t>
              </a:r>
            </a:p>
          </p:txBody>
        </p:sp>
      </p:grpSp>
      <p:grpSp>
        <p:nvGrpSpPr>
          <p:cNvPr id="20" name="Group 20"/>
          <p:cNvGrpSpPr/>
          <p:nvPr/>
        </p:nvGrpSpPr>
        <p:grpSpPr>
          <a:xfrm>
            <a:off x="14878233" y="4154298"/>
            <a:ext cx="3409767" cy="3438354"/>
            <a:chOff x="0" y="0"/>
            <a:chExt cx="4546356" cy="4584472"/>
          </a:xfrm>
        </p:grpSpPr>
        <p:grpSp>
          <p:nvGrpSpPr>
            <p:cNvPr id="21" name="Group 21"/>
            <p:cNvGrpSpPr/>
            <p:nvPr/>
          </p:nvGrpSpPr>
          <p:grpSpPr>
            <a:xfrm>
              <a:off x="0" y="0"/>
              <a:ext cx="4546356" cy="4584472"/>
              <a:chOff x="0" y="0"/>
              <a:chExt cx="812800" cy="819614"/>
            </a:xfrm>
          </p:grpSpPr>
          <p:sp>
            <p:nvSpPr>
              <p:cNvPr id="22" name="Freeform 22"/>
              <p:cNvSpPr/>
              <p:nvPr/>
            </p:nvSpPr>
            <p:spPr>
              <a:xfrm>
                <a:off x="0" y="0"/>
                <a:ext cx="812800" cy="819614"/>
              </a:xfrm>
              <a:custGeom>
                <a:avLst/>
                <a:gdLst/>
                <a:ahLst/>
                <a:cxnLst/>
                <a:rect l="l" t="t" r="r" b="b"/>
                <a:pathLst>
                  <a:path w="812800" h="819614">
                    <a:moveTo>
                      <a:pt x="406400" y="0"/>
                    </a:moveTo>
                    <a:cubicBezTo>
                      <a:pt x="181951" y="0"/>
                      <a:pt x="0" y="183477"/>
                      <a:pt x="0" y="409807"/>
                    </a:cubicBezTo>
                    <a:cubicBezTo>
                      <a:pt x="0" y="636137"/>
                      <a:pt x="181951" y="819614"/>
                      <a:pt x="406400" y="819614"/>
                    </a:cubicBezTo>
                    <a:cubicBezTo>
                      <a:pt x="630849" y="819614"/>
                      <a:pt x="812800" y="636137"/>
                      <a:pt x="812800" y="409807"/>
                    </a:cubicBezTo>
                    <a:cubicBezTo>
                      <a:pt x="812800" y="183477"/>
                      <a:pt x="630849" y="0"/>
                      <a:pt x="406400" y="0"/>
                    </a:cubicBezTo>
                    <a:close/>
                  </a:path>
                </a:pathLst>
              </a:custGeom>
              <a:solidFill>
                <a:srgbClr val="000000">
                  <a:alpha val="0"/>
                </a:srgbClr>
              </a:solidFill>
              <a:ln w="38100" cap="sq">
                <a:solidFill>
                  <a:srgbClr val="FFFFFF"/>
                </a:solidFill>
                <a:prstDash val="solid"/>
                <a:miter/>
              </a:ln>
            </p:spPr>
            <p:txBody>
              <a:bodyPr/>
              <a:lstStyle/>
              <a:p>
                <a:endParaRPr lang="en-US"/>
              </a:p>
            </p:txBody>
          </p:sp>
          <p:sp>
            <p:nvSpPr>
              <p:cNvPr id="23" name="TextBox 23"/>
              <p:cNvSpPr txBox="1"/>
              <p:nvPr/>
            </p:nvSpPr>
            <p:spPr>
              <a:xfrm>
                <a:off x="76200" y="19689"/>
                <a:ext cx="660400" cy="723087"/>
              </a:xfrm>
              <a:prstGeom prst="rect">
                <a:avLst/>
              </a:prstGeom>
            </p:spPr>
            <p:txBody>
              <a:bodyPr lIns="50800" tIns="50800" rIns="50800" bIns="50800" rtlCol="0" anchor="ctr"/>
              <a:lstStyle/>
              <a:p>
                <a:pPr algn="ctr">
                  <a:lnSpc>
                    <a:spcPts val="3499"/>
                  </a:lnSpc>
                </a:pPr>
                <a:endParaRPr/>
              </a:p>
            </p:txBody>
          </p:sp>
        </p:grpSp>
        <p:sp>
          <p:nvSpPr>
            <p:cNvPr id="24" name="TextBox 24"/>
            <p:cNvSpPr txBox="1"/>
            <p:nvPr/>
          </p:nvSpPr>
          <p:spPr>
            <a:xfrm>
              <a:off x="248387" y="1270143"/>
              <a:ext cx="4049582" cy="2034471"/>
            </a:xfrm>
            <a:prstGeom prst="rect">
              <a:avLst/>
            </a:prstGeom>
          </p:spPr>
          <p:txBody>
            <a:bodyPr lIns="0" tIns="0" rIns="0" bIns="0" rtlCol="0" anchor="t">
              <a:spAutoFit/>
            </a:bodyPr>
            <a:lstStyle/>
            <a:p>
              <a:pPr marL="0" lvl="0" indent="0" algn="ctr">
                <a:lnSpc>
                  <a:spcPts val="4045"/>
                </a:lnSpc>
                <a:spcBef>
                  <a:spcPct val="0"/>
                </a:spcBef>
              </a:pPr>
              <a:r>
                <a:rPr lang="en-US" sz="3399" u="none" strike="noStrike">
                  <a:solidFill>
                    <a:srgbClr val="FFFFFF"/>
                  </a:solidFill>
                  <a:latin typeface="Public Sans"/>
                  <a:ea typeface="Public Sans"/>
                  <a:cs typeface="Public Sans"/>
                  <a:sym typeface="Public Sans"/>
                </a:rPr>
                <a:t>Supports various input formats</a:t>
              </a:r>
            </a:p>
          </p:txBody>
        </p:sp>
      </p:grpSp>
      <p:grpSp>
        <p:nvGrpSpPr>
          <p:cNvPr id="25" name="Group 25"/>
          <p:cNvGrpSpPr/>
          <p:nvPr/>
        </p:nvGrpSpPr>
        <p:grpSpPr>
          <a:xfrm>
            <a:off x="13949282" y="570998"/>
            <a:ext cx="3522152" cy="3550739"/>
            <a:chOff x="0" y="0"/>
            <a:chExt cx="4696202" cy="4734318"/>
          </a:xfrm>
        </p:grpSpPr>
        <p:grpSp>
          <p:nvGrpSpPr>
            <p:cNvPr id="26" name="Group 26"/>
            <p:cNvGrpSpPr/>
            <p:nvPr/>
          </p:nvGrpSpPr>
          <p:grpSpPr>
            <a:xfrm>
              <a:off x="0" y="0"/>
              <a:ext cx="4696202" cy="4734318"/>
              <a:chOff x="0" y="0"/>
              <a:chExt cx="812800" cy="819397"/>
            </a:xfrm>
          </p:grpSpPr>
          <p:sp>
            <p:nvSpPr>
              <p:cNvPr id="27" name="Freeform 27"/>
              <p:cNvSpPr/>
              <p:nvPr/>
            </p:nvSpPr>
            <p:spPr>
              <a:xfrm>
                <a:off x="0" y="0"/>
                <a:ext cx="812800" cy="819397"/>
              </a:xfrm>
              <a:custGeom>
                <a:avLst/>
                <a:gdLst/>
                <a:ahLst/>
                <a:cxnLst/>
                <a:rect l="l" t="t" r="r" b="b"/>
                <a:pathLst>
                  <a:path w="812800" h="819397">
                    <a:moveTo>
                      <a:pt x="406400" y="0"/>
                    </a:moveTo>
                    <a:cubicBezTo>
                      <a:pt x="181951" y="0"/>
                      <a:pt x="0" y="183428"/>
                      <a:pt x="0" y="409698"/>
                    </a:cubicBezTo>
                    <a:cubicBezTo>
                      <a:pt x="0" y="635969"/>
                      <a:pt x="181951" y="819397"/>
                      <a:pt x="406400" y="819397"/>
                    </a:cubicBezTo>
                    <a:cubicBezTo>
                      <a:pt x="630849" y="819397"/>
                      <a:pt x="812800" y="635969"/>
                      <a:pt x="812800" y="409698"/>
                    </a:cubicBezTo>
                    <a:cubicBezTo>
                      <a:pt x="812800" y="183428"/>
                      <a:pt x="630849" y="0"/>
                      <a:pt x="406400" y="0"/>
                    </a:cubicBezTo>
                    <a:close/>
                  </a:path>
                </a:pathLst>
              </a:custGeom>
              <a:solidFill>
                <a:srgbClr val="000000">
                  <a:alpha val="0"/>
                </a:srgbClr>
              </a:solidFill>
              <a:ln w="38100" cap="sq">
                <a:solidFill>
                  <a:srgbClr val="FFFFFF"/>
                </a:solidFill>
                <a:prstDash val="solid"/>
                <a:miter/>
              </a:ln>
            </p:spPr>
            <p:txBody>
              <a:bodyPr/>
              <a:lstStyle/>
              <a:p>
                <a:endParaRPr lang="en-US"/>
              </a:p>
            </p:txBody>
          </p:sp>
          <p:sp>
            <p:nvSpPr>
              <p:cNvPr id="28" name="TextBox 28"/>
              <p:cNvSpPr txBox="1"/>
              <p:nvPr/>
            </p:nvSpPr>
            <p:spPr>
              <a:xfrm>
                <a:off x="76200" y="19668"/>
                <a:ext cx="660400" cy="722910"/>
              </a:xfrm>
              <a:prstGeom prst="rect">
                <a:avLst/>
              </a:prstGeom>
            </p:spPr>
            <p:txBody>
              <a:bodyPr lIns="50800" tIns="50800" rIns="50800" bIns="50800" rtlCol="0" anchor="ctr"/>
              <a:lstStyle/>
              <a:p>
                <a:pPr algn="ctr">
                  <a:lnSpc>
                    <a:spcPts val="3499"/>
                  </a:lnSpc>
                </a:pPr>
                <a:endParaRPr/>
              </a:p>
            </p:txBody>
          </p:sp>
        </p:grpSp>
        <p:sp>
          <p:nvSpPr>
            <p:cNvPr id="29" name="TextBox 29"/>
            <p:cNvSpPr txBox="1"/>
            <p:nvPr/>
          </p:nvSpPr>
          <p:spPr>
            <a:xfrm>
              <a:off x="144149" y="1376137"/>
              <a:ext cx="4552053" cy="2034471"/>
            </a:xfrm>
            <a:prstGeom prst="rect">
              <a:avLst/>
            </a:prstGeom>
          </p:spPr>
          <p:txBody>
            <a:bodyPr lIns="0" tIns="0" rIns="0" bIns="0" rtlCol="0" anchor="t">
              <a:spAutoFit/>
            </a:bodyPr>
            <a:lstStyle/>
            <a:p>
              <a:pPr marL="0" lvl="0" indent="0" algn="ctr">
                <a:lnSpc>
                  <a:spcPts val="4045"/>
                </a:lnSpc>
                <a:spcBef>
                  <a:spcPct val="0"/>
                </a:spcBef>
              </a:pPr>
              <a:r>
                <a:rPr lang="en-US" sz="3399" u="none" strike="noStrike">
                  <a:solidFill>
                    <a:srgbClr val="FFFFFF"/>
                  </a:solidFill>
                  <a:latin typeface="Public Sans"/>
                  <a:ea typeface="Public Sans"/>
                  <a:cs typeface="Public Sans"/>
                  <a:sym typeface="Public Sans"/>
                </a:rPr>
                <a:t>Outputs errors and fixed values for accuracy</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6418F">
                <a:alpha val="100000"/>
              </a:srgbClr>
            </a:gs>
            <a:gs pos="100000">
              <a:srgbClr val="3C9DC6">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9271751" y="5779311"/>
            <a:ext cx="6524239" cy="3921484"/>
          </a:xfrm>
          <a:custGeom>
            <a:avLst/>
            <a:gdLst/>
            <a:ahLst/>
            <a:cxnLst/>
            <a:rect l="l" t="t" r="r" b="b"/>
            <a:pathLst>
              <a:path w="6524239" h="3921484">
                <a:moveTo>
                  <a:pt x="0" y="0"/>
                </a:moveTo>
                <a:lnTo>
                  <a:pt x="6524239" y="0"/>
                </a:lnTo>
                <a:lnTo>
                  <a:pt x="6524239" y="3921484"/>
                </a:lnTo>
                <a:lnTo>
                  <a:pt x="0" y="3921484"/>
                </a:lnTo>
                <a:lnTo>
                  <a:pt x="0" y="0"/>
                </a:lnTo>
                <a:close/>
              </a:path>
            </a:pathLst>
          </a:custGeom>
          <a:blipFill>
            <a:blip r:embed="rId3"/>
            <a:stretch>
              <a:fillRect/>
            </a:stretch>
          </a:blipFill>
        </p:spPr>
        <p:txBody>
          <a:bodyPr/>
          <a:lstStyle/>
          <a:p>
            <a:endParaRPr lang="en-US"/>
          </a:p>
        </p:txBody>
      </p:sp>
      <p:sp>
        <p:nvSpPr>
          <p:cNvPr id="3" name="Freeform 3"/>
          <p:cNvSpPr/>
          <p:nvPr/>
        </p:nvSpPr>
        <p:spPr>
          <a:xfrm>
            <a:off x="814800" y="1695928"/>
            <a:ext cx="6674012" cy="3823066"/>
          </a:xfrm>
          <a:custGeom>
            <a:avLst/>
            <a:gdLst/>
            <a:ahLst/>
            <a:cxnLst/>
            <a:rect l="l" t="t" r="r" b="b"/>
            <a:pathLst>
              <a:path w="6674012" h="3823066">
                <a:moveTo>
                  <a:pt x="0" y="0"/>
                </a:moveTo>
                <a:lnTo>
                  <a:pt x="6674012" y="0"/>
                </a:lnTo>
                <a:lnTo>
                  <a:pt x="6674012" y="3823066"/>
                </a:lnTo>
                <a:lnTo>
                  <a:pt x="0" y="3823066"/>
                </a:lnTo>
                <a:lnTo>
                  <a:pt x="0" y="0"/>
                </a:lnTo>
                <a:close/>
              </a:path>
            </a:pathLst>
          </a:custGeom>
          <a:blipFill>
            <a:blip r:embed="rId4"/>
            <a:stretch>
              <a:fillRect t="-795" b="-795"/>
            </a:stretch>
          </a:blipFill>
        </p:spPr>
        <p:txBody>
          <a:bodyPr/>
          <a:lstStyle/>
          <a:p>
            <a:endParaRPr lang="en-US"/>
          </a:p>
        </p:txBody>
      </p:sp>
      <p:sp>
        <p:nvSpPr>
          <p:cNvPr id="4" name="Freeform 4"/>
          <p:cNvSpPr/>
          <p:nvPr/>
        </p:nvSpPr>
        <p:spPr>
          <a:xfrm>
            <a:off x="9271751" y="1667353"/>
            <a:ext cx="6524239" cy="3921484"/>
          </a:xfrm>
          <a:custGeom>
            <a:avLst/>
            <a:gdLst/>
            <a:ahLst/>
            <a:cxnLst/>
            <a:rect l="l" t="t" r="r" b="b"/>
            <a:pathLst>
              <a:path w="6524239" h="3921484">
                <a:moveTo>
                  <a:pt x="0" y="0"/>
                </a:moveTo>
                <a:lnTo>
                  <a:pt x="6524239" y="0"/>
                </a:lnTo>
                <a:lnTo>
                  <a:pt x="6524239" y="3921485"/>
                </a:lnTo>
                <a:lnTo>
                  <a:pt x="0" y="3921485"/>
                </a:lnTo>
                <a:lnTo>
                  <a:pt x="0" y="0"/>
                </a:lnTo>
                <a:close/>
              </a:path>
            </a:pathLst>
          </a:custGeom>
          <a:blipFill>
            <a:blip r:embed="rId5"/>
            <a:stretch>
              <a:fillRect/>
            </a:stretch>
          </a:blipFill>
        </p:spPr>
        <p:txBody>
          <a:bodyPr/>
          <a:lstStyle/>
          <a:p>
            <a:endParaRPr lang="en-US"/>
          </a:p>
        </p:txBody>
      </p:sp>
      <p:sp>
        <p:nvSpPr>
          <p:cNvPr id="5" name="Freeform 5"/>
          <p:cNvSpPr/>
          <p:nvPr/>
        </p:nvSpPr>
        <p:spPr>
          <a:xfrm>
            <a:off x="814800" y="5779311"/>
            <a:ext cx="6674012" cy="3921484"/>
          </a:xfrm>
          <a:custGeom>
            <a:avLst/>
            <a:gdLst/>
            <a:ahLst/>
            <a:cxnLst/>
            <a:rect l="l" t="t" r="r" b="b"/>
            <a:pathLst>
              <a:path w="6674012" h="3921484">
                <a:moveTo>
                  <a:pt x="0" y="0"/>
                </a:moveTo>
                <a:lnTo>
                  <a:pt x="6674012" y="0"/>
                </a:lnTo>
                <a:lnTo>
                  <a:pt x="6674012" y="3921484"/>
                </a:lnTo>
                <a:lnTo>
                  <a:pt x="0" y="3921484"/>
                </a:lnTo>
                <a:lnTo>
                  <a:pt x="0" y="0"/>
                </a:lnTo>
                <a:close/>
              </a:path>
            </a:pathLst>
          </a:custGeom>
          <a:blipFill>
            <a:blip r:embed="rId6"/>
            <a:stretch>
              <a:fillRect t="-1147" b="-1147"/>
            </a:stretch>
          </a:blipFill>
        </p:spPr>
        <p:txBody>
          <a:bodyPr/>
          <a:lstStyle/>
          <a:p>
            <a:endParaRPr lang="en-US"/>
          </a:p>
        </p:txBody>
      </p:sp>
      <p:sp>
        <p:nvSpPr>
          <p:cNvPr id="6" name="TextBox 6"/>
          <p:cNvSpPr txBox="1"/>
          <p:nvPr/>
        </p:nvSpPr>
        <p:spPr>
          <a:xfrm>
            <a:off x="814800" y="363177"/>
            <a:ext cx="10746921" cy="1047001"/>
          </a:xfrm>
          <a:prstGeom prst="rect">
            <a:avLst/>
          </a:prstGeom>
        </p:spPr>
        <p:txBody>
          <a:bodyPr lIns="0" tIns="0" rIns="0" bIns="0" rtlCol="0" anchor="t">
            <a:spAutoFit/>
          </a:bodyPr>
          <a:lstStyle/>
          <a:p>
            <a:pPr algn="l">
              <a:lnSpc>
                <a:spcPts val="8208"/>
              </a:lnSpc>
            </a:pPr>
            <a:r>
              <a:rPr lang="en-US" sz="6897">
                <a:solidFill>
                  <a:srgbClr val="FFFFFF"/>
                </a:solidFill>
                <a:latin typeface="Archive"/>
                <a:ea typeface="Archive"/>
                <a:cs typeface="Archive"/>
                <a:sym typeface="Archive"/>
              </a:rPr>
              <a:t>Preliminary Results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6418F">
                <a:alpha val="100000"/>
              </a:srgbClr>
            </a:gs>
            <a:gs pos="100000">
              <a:srgbClr val="3C9DC6">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28700" y="755352"/>
            <a:ext cx="14979424" cy="1047001"/>
          </a:xfrm>
          <a:prstGeom prst="rect">
            <a:avLst/>
          </a:prstGeom>
        </p:spPr>
        <p:txBody>
          <a:bodyPr lIns="0" tIns="0" rIns="0" bIns="0" rtlCol="0" anchor="t">
            <a:spAutoFit/>
          </a:bodyPr>
          <a:lstStyle/>
          <a:p>
            <a:pPr algn="l">
              <a:lnSpc>
                <a:spcPts val="8208"/>
              </a:lnSpc>
            </a:pPr>
            <a:r>
              <a:rPr lang="en-US" sz="6897">
                <a:solidFill>
                  <a:srgbClr val="FFFFFF"/>
                </a:solidFill>
                <a:latin typeface="Archive"/>
                <a:ea typeface="Archive"/>
                <a:cs typeface="Archive"/>
                <a:sym typeface="Archive"/>
              </a:rPr>
              <a:t>Disscusion: Current obstacles</a:t>
            </a:r>
          </a:p>
        </p:txBody>
      </p:sp>
      <p:sp>
        <p:nvSpPr>
          <p:cNvPr id="3" name="TextBox 3"/>
          <p:cNvSpPr txBox="1"/>
          <p:nvPr/>
        </p:nvSpPr>
        <p:spPr>
          <a:xfrm>
            <a:off x="1262759" y="1678528"/>
            <a:ext cx="13404463" cy="6594653"/>
          </a:xfrm>
          <a:prstGeom prst="rect">
            <a:avLst/>
          </a:prstGeom>
        </p:spPr>
        <p:txBody>
          <a:bodyPr lIns="0" tIns="0" rIns="0" bIns="0" rtlCol="0" anchor="t">
            <a:spAutoFit/>
          </a:bodyPr>
          <a:lstStyle/>
          <a:p>
            <a:pPr algn="ctr">
              <a:lnSpc>
                <a:spcPts val="8734"/>
              </a:lnSpc>
            </a:pPr>
            <a:endParaRPr/>
          </a:p>
          <a:p>
            <a:pPr marL="1347056" lvl="1" indent="-673528" algn="l">
              <a:lnSpc>
                <a:spcPts val="8734"/>
              </a:lnSpc>
              <a:buFont typeface="Arial"/>
              <a:buChar char="•"/>
            </a:pPr>
            <a:r>
              <a:rPr lang="en-US" sz="6239" b="1">
                <a:solidFill>
                  <a:srgbClr val="FFFFFF"/>
                </a:solidFill>
                <a:latin typeface="Public Sans Bold"/>
                <a:ea typeface="Public Sans Bold"/>
                <a:cs typeface="Public Sans Bold"/>
                <a:sym typeface="Public Sans Bold"/>
              </a:rPr>
              <a:t>Helsinki’s approval</a:t>
            </a:r>
          </a:p>
          <a:p>
            <a:pPr marL="1347056" lvl="1" indent="-673528" algn="l">
              <a:lnSpc>
                <a:spcPts val="8734"/>
              </a:lnSpc>
              <a:buFont typeface="Arial"/>
              <a:buChar char="•"/>
            </a:pPr>
            <a:r>
              <a:rPr lang="en-US" sz="6239" b="1">
                <a:solidFill>
                  <a:srgbClr val="FFFFFF"/>
                </a:solidFill>
                <a:latin typeface="Public Sans Bold"/>
                <a:ea typeface="Public Sans Bold"/>
                <a:cs typeface="Public Sans Bold"/>
                <a:sym typeface="Public Sans Bold"/>
              </a:rPr>
              <a:t>Authorization &amp; Security</a:t>
            </a:r>
          </a:p>
          <a:p>
            <a:pPr marL="1347056" lvl="1" indent="-673528" algn="l">
              <a:lnSpc>
                <a:spcPts val="8734"/>
              </a:lnSpc>
              <a:buFont typeface="Arial"/>
              <a:buChar char="•"/>
            </a:pPr>
            <a:r>
              <a:rPr lang="en-US" sz="6239">
                <a:solidFill>
                  <a:srgbClr val="FFFFFF"/>
                </a:solidFill>
                <a:latin typeface="Public Sans"/>
                <a:ea typeface="Public Sans"/>
                <a:cs typeface="Public Sans"/>
                <a:sym typeface="Public Sans"/>
              </a:rPr>
              <a:t>Computing power</a:t>
            </a:r>
          </a:p>
          <a:p>
            <a:pPr marL="1347056" lvl="1" indent="-673528" algn="l">
              <a:lnSpc>
                <a:spcPts val="8734"/>
              </a:lnSpc>
              <a:buFont typeface="Arial"/>
              <a:buChar char="•"/>
            </a:pPr>
            <a:r>
              <a:rPr lang="en-US" sz="6239">
                <a:solidFill>
                  <a:srgbClr val="FFFFFF"/>
                </a:solidFill>
                <a:latin typeface="Public Sans"/>
                <a:ea typeface="Public Sans"/>
                <a:cs typeface="Public Sans"/>
                <a:sym typeface="Public Sans"/>
              </a:rPr>
              <a:t>OCR improvements</a:t>
            </a:r>
          </a:p>
          <a:p>
            <a:pPr algn="l">
              <a:lnSpc>
                <a:spcPts val="8734"/>
              </a:lnSpc>
            </a:pPr>
            <a:endParaRPr lang="en-US" sz="6239">
              <a:solidFill>
                <a:srgbClr val="FFFFFF"/>
              </a:solidFill>
              <a:latin typeface="Public Sans"/>
              <a:ea typeface="Public Sans"/>
              <a:cs typeface="Public Sans"/>
              <a:sym typeface="Public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5438"/>
            <a:ext cx="18288000" cy="6449049"/>
            <a:chOff x="0" y="0"/>
            <a:chExt cx="4816593" cy="1698515"/>
          </a:xfrm>
        </p:grpSpPr>
        <p:sp>
          <p:nvSpPr>
            <p:cNvPr id="3" name="Freeform 3"/>
            <p:cNvSpPr/>
            <p:nvPr/>
          </p:nvSpPr>
          <p:spPr>
            <a:xfrm>
              <a:off x="0" y="0"/>
              <a:ext cx="4816592" cy="1698515"/>
            </a:xfrm>
            <a:custGeom>
              <a:avLst/>
              <a:gdLst/>
              <a:ahLst/>
              <a:cxnLst/>
              <a:rect l="l" t="t" r="r" b="b"/>
              <a:pathLst>
                <a:path w="4816592" h="1698515">
                  <a:moveTo>
                    <a:pt x="0" y="0"/>
                  </a:moveTo>
                  <a:lnTo>
                    <a:pt x="4816592" y="0"/>
                  </a:lnTo>
                  <a:lnTo>
                    <a:pt x="4816592" y="1698515"/>
                  </a:lnTo>
                  <a:lnTo>
                    <a:pt x="0" y="1698515"/>
                  </a:lnTo>
                  <a:close/>
                </a:path>
              </a:pathLst>
            </a:custGeom>
            <a:solidFill>
              <a:srgbClr val="0A4893"/>
            </a:solidFill>
          </p:spPr>
          <p:txBody>
            <a:bodyPr/>
            <a:lstStyle/>
            <a:p>
              <a:endParaRPr lang="en-US" dirty="0"/>
            </a:p>
          </p:txBody>
        </p:sp>
        <p:sp>
          <p:nvSpPr>
            <p:cNvPr id="4" name="TextBox 4"/>
            <p:cNvSpPr txBox="1"/>
            <p:nvPr/>
          </p:nvSpPr>
          <p:spPr>
            <a:xfrm>
              <a:off x="0" y="-57150"/>
              <a:ext cx="4816593" cy="1755665"/>
            </a:xfrm>
            <a:prstGeom prst="rect">
              <a:avLst/>
            </a:prstGeom>
          </p:spPr>
          <p:txBody>
            <a:bodyPr lIns="50800" tIns="50800" rIns="50800" bIns="50800" rtlCol="0" anchor="ctr"/>
            <a:lstStyle/>
            <a:p>
              <a:pPr algn="ctr">
                <a:lnSpc>
                  <a:spcPts val="3499"/>
                </a:lnSpc>
              </a:pPr>
              <a:endParaRPr/>
            </a:p>
          </p:txBody>
        </p:sp>
      </p:grpSp>
      <p:pic>
        <p:nvPicPr>
          <p:cNvPr id="5" name="Picture 5"/>
          <p:cNvPicPr>
            <a:picLocks noChangeAspect="1"/>
          </p:cNvPicPr>
          <p:nvPr/>
        </p:nvPicPr>
        <p:blipFill>
          <a:blip r:embed="rId2"/>
          <a:stretch>
            <a:fillRect/>
          </a:stretch>
        </p:blipFill>
        <p:spPr>
          <a:xfrm>
            <a:off x="1002169" y="4500406"/>
            <a:ext cx="3897284" cy="3897284"/>
          </a:xfrm>
          <a:prstGeom prst="rect">
            <a:avLst/>
          </a:prstGeom>
        </p:spPr>
      </p:pic>
      <p:pic>
        <p:nvPicPr>
          <p:cNvPr id="6" name="Picture 6"/>
          <p:cNvPicPr>
            <a:picLocks noChangeAspect="1"/>
          </p:cNvPicPr>
          <p:nvPr/>
        </p:nvPicPr>
        <p:blipFill>
          <a:blip r:embed="rId3"/>
          <a:stretch>
            <a:fillRect/>
          </a:stretch>
        </p:blipFill>
        <p:spPr>
          <a:xfrm>
            <a:off x="4928869" y="4500406"/>
            <a:ext cx="3897284" cy="3897284"/>
          </a:xfrm>
          <a:prstGeom prst="rect">
            <a:avLst/>
          </a:prstGeom>
        </p:spPr>
      </p:pic>
      <p:pic>
        <p:nvPicPr>
          <p:cNvPr id="7" name="Picture 7"/>
          <p:cNvPicPr>
            <a:picLocks noChangeAspect="1"/>
          </p:cNvPicPr>
          <p:nvPr/>
        </p:nvPicPr>
        <p:blipFill>
          <a:blip r:embed="rId4"/>
          <a:stretch>
            <a:fillRect/>
          </a:stretch>
        </p:blipFill>
        <p:spPr>
          <a:xfrm>
            <a:off x="8912916" y="4500406"/>
            <a:ext cx="3897284" cy="3897284"/>
          </a:xfrm>
          <a:prstGeom prst="rect">
            <a:avLst/>
          </a:prstGeom>
        </p:spPr>
      </p:pic>
      <p:pic>
        <p:nvPicPr>
          <p:cNvPr id="8" name="Picture 8"/>
          <p:cNvPicPr>
            <a:picLocks noChangeAspect="1"/>
          </p:cNvPicPr>
          <p:nvPr/>
        </p:nvPicPr>
        <p:blipFill>
          <a:blip r:embed="rId5"/>
          <a:stretch>
            <a:fillRect/>
          </a:stretch>
        </p:blipFill>
        <p:spPr>
          <a:xfrm>
            <a:off x="13023476" y="4500406"/>
            <a:ext cx="3897284" cy="3897284"/>
          </a:xfrm>
          <a:prstGeom prst="rect">
            <a:avLst/>
          </a:prstGeom>
        </p:spPr>
      </p:pic>
      <p:sp>
        <p:nvSpPr>
          <p:cNvPr id="9" name="TextBox 9"/>
          <p:cNvSpPr txBox="1"/>
          <p:nvPr/>
        </p:nvSpPr>
        <p:spPr>
          <a:xfrm>
            <a:off x="4321456" y="8585709"/>
            <a:ext cx="5112110" cy="1261126"/>
          </a:xfrm>
          <a:prstGeom prst="rect">
            <a:avLst/>
          </a:prstGeom>
        </p:spPr>
        <p:txBody>
          <a:bodyPr lIns="0" tIns="0" rIns="0" bIns="0" rtlCol="0" anchor="t">
            <a:spAutoFit/>
          </a:bodyPr>
          <a:lstStyle/>
          <a:p>
            <a:pPr marL="0" lvl="0" indent="0" algn="ctr">
              <a:lnSpc>
                <a:spcPts val="5040"/>
              </a:lnSpc>
              <a:spcBef>
                <a:spcPct val="0"/>
              </a:spcBef>
            </a:pPr>
            <a:r>
              <a:rPr lang="en-US" sz="3600" b="1" spc="284" dirty="0">
                <a:solidFill>
                  <a:srgbClr val="2179AC"/>
                </a:solidFill>
                <a:latin typeface="Public Sans"/>
                <a:ea typeface="Public Sans"/>
                <a:cs typeface="Public Sans"/>
                <a:sym typeface="Public Sans"/>
              </a:rPr>
              <a:t>PILO</a:t>
            </a:r>
            <a:r>
              <a:rPr lang="en-US" sz="3600" b="1" u="none" strike="noStrike" spc="284" dirty="0">
                <a:solidFill>
                  <a:srgbClr val="2179AC"/>
                </a:solidFill>
                <a:latin typeface="Public Sans"/>
                <a:ea typeface="Public Sans"/>
                <a:cs typeface="Public Sans"/>
                <a:sym typeface="Public Sans"/>
              </a:rPr>
              <a:t>T DEPLOYMENT ON TEST MACHINE</a:t>
            </a:r>
          </a:p>
        </p:txBody>
      </p:sp>
      <p:sp>
        <p:nvSpPr>
          <p:cNvPr id="10" name="TextBox 10"/>
          <p:cNvSpPr txBox="1"/>
          <p:nvPr/>
        </p:nvSpPr>
        <p:spPr>
          <a:xfrm>
            <a:off x="95132" y="2705100"/>
            <a:ext cx="5891773" cy="1899309"/>
          </a:xfrm>
          <a:prstGeom prst="rect">
            <a:avLst/>
          </a:prstGeom>
        </p:spPr>
        <p:txBody>
          <a:bodyPr wrap="square" lIns="0" tIns="0" rIns="0" bIns="0" rtlCol="0" anchor="t">
            <a:spAutoFit/>
          </a:bodyPr>
          <a:lstStyle/>
          <a:p>
            <a:pPr marL="0" lvl="0" indent="0" algn="ctr">
              <a:lnSpc>
                <a:spcPts val="5040"/>
              </a:lnSpc>
              <a:spcBef>
                <a:spcPct val="0"/>
              </a:spcBef>
            </a:pPr>
            <a:r>
              <a:rPr lang="en-US" sz="3600" b="1" u="none" strike="noStrike" spc="284" dirty="0">
                <a:solidFill>
                  <a:srgbClr val="6CE5E8"/>
                </a:solidFill>
                <a:latin typeface="Public Sans"/>
                <a:ea typeface="Public Sans"/>
                <a:cs typeface="Public Sans"/>
                <a:sym typeface="Public Sans"/>
              </a:rPr>
              <a:t>FRONTEND DEVELOPMENT FOR DATA VISUALIZATION</a:t>
            </a:r>
          </a:p>
        </p:txBody>
      </p:sp>
      <p:sp>
        <p:nvSpPr>
          <p:cNvPr id="11" name="TextBox 11"/>
          <p:cNvSpPr txBox="1"/>
          <p:nvPr/>
        </p:nvSpPr>
        <p:spPr>
          <a:xfrm>
            <a:off x="8542698" y="2922525"/>
            <a:ext cx="4637719" cy="1228157"/>
          </a:xfrm>
          <a:prstGeom prst="rect">
            <a:avLst/>
          </a:prstGeom>
        </p:spPr>
        <p:txBody>
          <a:bodyPr wrap="square" lIns="0" tIns="0" rIns="0" bIns="0" rtlCol="0" anchor="t">
            <a:spAutoFit/>
          </a:bodyPr>
          <a:lstStyle/>
          <a:p>
            <a:pPr marL="0" lvl="0" indent="0" algn="ctr">
              <a:lnSpc>
                <a:spcPts val="5040"/>
              </a:lnSpc>
              <a:spcBef>
                <a:spcPct val="0"/>
              </a:spcBef>
            </a:pPr>
            <a:r>
              <a:rPr lang="en-US" sz="3600" b="1" u="none" strike="noStrike" spc="284" dirty="0">
                <a:solidFill>
                  <a:srgbClr val="6CE5E8"/>
                </a:solidFill>
                <a:latin typeface="Public Sans"/>
                <a:ea typeface="Public Sans"/>
                <a:cs typeface="Public Sans"/>
                <a:sym typeface="Public Sans"/>
              </a:rPr>
              <a:t>DOCUMENTATION FOR IT REVIEW </a:t>
            </a:r>
          </a:p>
        </p:txBody>
      </p:sp>
      <p:sp>
        <p:nvSpPr>
          <p:cNvPr id="12" name="TextBox 12"/>
          <p:cNvSpPr txBox="1"/>
          <p:nvPr/>
        </p:nvSpPr>
        <p:spPr>
          <a:xfrm>
            <a:off x="11934996" y="8585709"/>
            <a:ext cx="6074243" cy="1261126"/>
          </a:xfrm>
          <a:prstGeom prst="rect">
            <a:avLst/>
          </a:prstGeom>
        </p:spPr>
        <p:txBody>
          <a:bodyPr wrap="square" lIns="0" tIns="0" rIns="0" bIns="0" rtlCol="0" anchor="t">
            <a:spAutoFit/>
          </a:bodyPr>
          <a:lstStyle/>
          <a:p>
            <a:pPr marL="0" lvl="0" indent="0" algn="ctr">
              <a:lnSpc>
                <a:spcPts val="5040"/>
              </a:lnSpc>
              <a:spcBef>
                <a:spcPct val="0"/>
              </a:spcBef>
            </a:pPr>
            <a:r>
              <a:rPr lang="en-US" sz="3600" b="1" u="none" strike="noStrike" spc="284" dirty="0">
                <a:solidFill>
                  <a:srgbClr val="2179AC"/>
                </a:solidFill>
                <a:latin typeface="Public Sans"/>
                <a:ea typeface="Public Sans"/>
                <a:cs typeface="Public Sans"/>
                <a:sym typeface="Public Sans"/>
              </a:rPr>
              <a:t>INTEGRATION INTO CLINICAL WORKFLOWS</a:t>
            </a:r>
          </a:p>
        </p:txBody>
      </p:sp>
      <p:sp>
        <p:nvSpPr>
          <p:cNvPr id="13" name="TextBox 13"/>
          <p:cNvSpPr txBox="1"/>
          <p:nvPr/>
        </p:nvSpPr>
        <p:spPr>
          <a:xfrm>
            <a:off x="280427" y="257120"/>
            <a:ext cx="9970693" cy="970284"/>
          </a:xfrm>
          <a:prstGeom prst="rect">
            <a:avLst/>
          </a:prstGeom>
        </p:spPr>
        <p:txBody>
          <a:bodyPr lIns="0" tIns="0" rIns="0" bIns="0" rtlCol="0" anchor="t">
            <a:spAutoFit/>
          </a:bodyPr>
          <a:lstStyle/>
          <a:p>
            <a:pPr algn="l">
              <a:lnSpc>
                <a:spcPts val="7694"/>
              </a:lnSpc>
            </a:pPr>
            <a:r>
              <a:rPr lang="en-US" sz="6465">
                <a:solidFill>
                  <a:srgbClr val="FFFFFF"/>
                </a:solidFill>
                <a:latin typeface="Archive"/>
                <a:ea typeface="Archive"/>
                <a:cs typeface="Archive"/>
                <a:sym typeface="Archive"/>
              </a:rPr>
              <a:t>Future Development:</a:t>
            </a:r>
          </a:p>
        </p:txBody>
      </p:sp>
      <p:sp>
        <p:nvSpPr>
          <p:cNvPr id="14" name="TextBox 14"/>
          <p:cNvSpPr txBox="1"/>
          <p:nvPr/>
        </p:nvSpPr>
        <p:spPr>
          <a:xfrm>
            <a:off x="10251120" y="277924"/>
            <a:ext cx="5615600" cy="929300"/>
          </a:xfrm>
          <a:prstGeom prst="rect">
            <a:avLst/>
          </a:prstGeom>
        </p:spPr>
        <p:txBody>
          <a:bodyPr lIns="0" tIns="0" rIns="0" bIns="0" rtlCol="0" anchor="t">
            <a:spAutoFit/>
          </a:bodyPr>
          <a:lstStyle/>
          <a:p>
            <a:pPr algn="l">
              <a:lnSpc>
                <a:spcPts val="7580"/>
              </a:lnSpc>
              <a:spcBef>
                <a:spcPct val="0"/>
              </a:spcBef>
            </a:pPr>
            <a:r>
              <a:rPr lang="en-US" sz="5414" dirty="0">
                <a:solidFill>
                  <a:srgbClr val="FFFFFF"/>
                </a:solidFill>
                <a:latin typeface="Archive"/>
                <a:ea typeface="Archive"/>
                <a:cs typeface="Archive"/>
                <a:sym typeface="Archive"/>
              </a:rPr>
              <a:t>The Next Steps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6418F">
                <a:alpha val="100000"/>
              </a:srgbClr>
            </a:gs>
            <a:gs pos="100000">
              <a:srgbClr val="51DBD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7195785" y="0"/>
            <a:ext cx="11092215" cy="10287000"/>
            <a:chOff x="0" y="0"/>
            <a:chExt cx="14789620" cy="13716000"/>
          </a:xfrm>
        </p:grpSpPr>
        <p:pic>
          <p:nvPicPr>
            <p:cNvPr id="3" name="Picture 3"/>
            <p:cNvPicPr>
              <a:picLocks noChangeAspect="1"/>
            </p:cNvPicPr>
            <p:nvPr/>
          </p:nvPicPr>
          <p:blipFill>
            <a:blip r:embed="rId2"/>
            <a:srcRect l="14079" r="14079"/>
            <a:stretch>
              <a:fillRect/>
            </a:stretch>
          </p:blipFill>
          <p:spPr>
            <a:xfrm>
              <a:off x="0" y="0"/>
              <a:ext cx="14789620" cy="13716000"/>
            </a:xfrm>
            <a:prstGeom prst="rect">
              <a:avLst/>
            </a:prstGeom>
          </p:spPr>
        </p:pic>
      </p:grpSp>
      <p:sp>
        <p:nvSpPr>
          <p:cNvPr id="4" name="Freeform 4"/>
          <p:cNvSpPr/>
          <p:nvPr/>
        </p:nvSpPr>
        <p:spPr>
          <a:xfrm>
            <a:off x="7086546" y="0"/>
            <a:ext cx="10417552" cy="10417552"/>
          </a:xfrm>
          <a:custGeom>
            <a:avLst/>
            <a:gdLst/>
            <a:ahLst/>
            <a:cxnLst/>
            <a:rect l="l" t="t" r="r" b="b"/>
            <a:pathLst>
              <a:path w="10417552" h="10417552">
                <a:moveTo>
                  <a:pt x="0" y="0"/>
                </a:moveTo>
                <a:lnTo>
                  <a:pt x="10417552" y="0"/>
                </a:lnTo>
                <a:lnTo>
                  <a:pt x="10417552" y="10417552"/>
                </a:lnTo>
                <a:lnTo>
                  <a:pt x="0" y="1041755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1028700" y="1038225"/>
            <a:ext cx="8891735" cy="2592132"/>
          </a:xfrm>
          <a:prstGeom prst="rect">
            <a:avLst/>
          </a:prstGeom>
        </p:spPr>
        <p:txBody>
          <a:bodyPr lIns="0" tIns="0" rIns="0" bIns="0" rtlCol="0" anchor="t">
            <a:spAutoFit/>
          </a:bodyPr>
          <a:lstStyle/>
          <a:p>
            <a:pPr algn="l">
              <a:lnSpc>
                <a:spcPts val="10240"/>
              </a:lnSpc>
            </a:pPr>
            <a:r>
              <a:rPr lang="en-US" sz="8605">
                <a:solidFill>
                  <a:srgbClr val="FFFFFF"/>
                </a:solidFill>
                <a:latin typeface="Archive"/>
                <a:ea typeface="Archive"/>
                <a:cs typeface="Archive"/>
                <a:sym typeface="Archive"/>
              </a:rPr>
              <a:t>Any questions?</a:t>
            </a:r>
          </a:p>
        </p:txBody>
      </p:sp>
      <p:sp>
        <p:nvSpPr>
          <p:cNvPr id="6" name="TextBox 6"/>
          <p:cNvSpPr txBox="1"/>
          <p:nvPr/>
        </p:nvSpPr>
        <p:spPr>
          <a:xfrm>
            <a:off x="1028700" y="5784127"/>
            <a:ext cx="8891735" cy="1296768"/>
          </a:xfrm>
          <a:prstGeom prst="rect">
            <a:avLst/>
          </a:prstGeom>
        </p:spPr>
        <p:txBody>
          <a:bodyPr lIns="0" tIns="0" rIns="0" bIns="0" rtlCol="0" anchor="t">
            <a:spAutoFit/>
          </a:bodyPr>
          <a:lstStyle/>
          <a:p>
            <a:pPr algn="l">
              <a:lnSpc>
                <a:spcPts val="10240"/>
              </a:lnSpc>
            </a:pPr>
            <a:r>
              <a:rPr lang="en-US" sz="8605">
                <a:solidFill>
                  <a:srgbClr val="FFFFFF"/>
                </a:solidFill>
                <a:latin typeface="Archive"/>
                <a:ea typeface="Archive"/>
                <a:cs typeface="Archive"/>
                <a:sym typeface="Archive"/>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197</TotalTime>
  <Words>668</Words>
  <Application>Microsoft Office PowerPoint</Application>
  <PresentationFormat>מותאם אישית</PresentationFormat>
  <Paragraphs>90</Paragraphs>
  <Slides>10</Slides>
  <Notes>6</Notes>
  <HiddenSlides>0</HiddenSlides>
  <MMClips>0</MMClips>
  <ScaleCrop>false</ScaleCrop>
  <HeadingPairs>
    <vt:vector size="6" baseType="variant">
      <vt:variant>
        <vt:lpstr>גופנים בשימוש</vt:lpstr>
      </vt:variant>
      <vt:variant>
        <vt:i4>6</vt:i4>
      </vt:variant>
      <vt:variant>
        <vt:lpstr>ערכת נושא</vt:lpstr>
      </vt:variant>
      <vt:variant>
        <vt:i4>1</vt:i4>
      </vt:variant>
      <vt:variant>
        <vt:lpstr>כותרות שקופיות</vt:lpstr>
      </vt:variant>
      <vt:variant>
        <vt:i4>10</vt:i4>
      </vt:variant>
    </vt:vector>
  </HeadingPairs>
  <TitlesOfParts>
    <vt:vector size="17" baseType="lpstr">
      <vt:lpstr>Public Sans Bold</vt:lpstr>
      <vt:lpstr>Archive</vt:lpstr>
      <vt:lpstr>Public Sans</vt:lpstr>
      <vt:lpstr>Arial</vt:lpstr>
      <vt:lpstr>Times New Roman</vt:lpstr>
      <vt:lpstr>Calibri</vt:lpstr>
      <vt:lpstr>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COPD Final Project</dc:title>
  <cp:lastModifiedBy>Noa Diskin</cp:lastModifiedBy>
  <cp:revision>7</cp:revision>
  <dcterms:created xsi:type="dcterms:W3CDTF">2006-08-16T00:00:00Z</dcterms:created>
  <dcterms:modified xsi:type="dcterms:W3CDTF">2025-07-01T07:42:17Z</dcterms:modified>
  <dc:identifier>DAGljBo52VU</dc:identifier>
</cp:coreProperties>
</file>