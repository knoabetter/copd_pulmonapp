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2C1-AA77-33F8-82AC-37D71AD2D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9774877-F498-87F4-14AC-A8FD62875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0AC8F0-0026-8C76-6CC8-306DD41D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7D6D006-A289-CEA5-8254-C9C6BE33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3054CC-4895-B6CB-2B08-8738CC9E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720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6B93FD-7BE8-837E-5BE1-37B2E9A0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B0D5A0-006C-081C-BED4-E5C829E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057439-21CA-44E2-C111-AAF1D69E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1C65D3-74E0-C734-9350-E4827676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B08BB9-33F9-C2CA-7FEE-1C3D55AC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596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3749D5-8B0A-445E-C7D6-64881C8C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1671FDC-884D-418E-F0F2-A36EA6480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ACED53-4982-96C0-5CD2-8B1C8A93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6D8E430-3AAF-9203-9ACD-0979E4FA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C9042E-DF08-5A50-AAF6-2A18CE5A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109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1EA3C7-DCE0-C8F2-1FFE-6C99E8F2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4A14A2-F65D-E44E-59E0-FC3C4E762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C93B6AD-5B45-CE72-0476-B57117948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5EAE08-2FDE-2D8F-37EC-FFF4F149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14E0FB3-3EFA-EB12-92D7-2377A2F5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A5D351A-8ACC-9B68-949C-B43EAEF6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433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CA1D92-22CB-45C1-0EED-43FB492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980375-0F56-8D6C-D364-19352B266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DC7A0E-B03A-3846-4395-446EE4188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774EF46-2819-5737-3E52-5D6621590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478553B-F055-45A0-B45C-F3BE85744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5A18697-F711-12B2-B347-FDEA20BE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7F14BFE-C316-50FE-ACEC-1161A4B7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FE3A38-A4E3-7CD0-9D81-052840F9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46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5729B7-9E05-26DB-077C-F08AC613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66F338C-2AA5-E317-B2AE-A75AC0CC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EDD71E2-C119-78E7-D837-D2AD7A25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798AB38-D985-B71E-EFF5-B4B18592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179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E7F1E5C-9A68-F1B4-5441-BBC40C0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5791FC5-A6A7-A292-8936-AB339769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D0DB5FB-FECF-C568-98DA-9ECF8334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041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FD3088-F052-315E-C6D1-5A2B8409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2205F0-EC5E-903B-3E39-F37FF1DA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4723D8E-3CD5-74C2-7DE5-C373873FE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6449D2-089F-1BA9-9660-9A4FCB95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A9AC3CE-98D0-5E6F-1650-62CF0FF7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CB00CFC-981B-E9CA-0703-289733E8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524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9D9B32-4C37-D1B0-BE0E-03A062A2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3CA42A-B722-EC28-52DE-3147B0D9E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6D1BF68-F14E-805F-9005-D800BAE01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65C135F-5792-EACE-D404-F696E5F3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0742BA6-1B7F-718C-5673-A823971B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4566E5E-AE1A-CA56-373D-8358822B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33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F2C2C9-61B3-6D69-D25A-2EDBD1A8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D2B59B8-E334-F945-D544-776C76D7A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7FED76-AF4C-8450-BCE8-D82BD310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56A970-6567-D417-F07C-D5C43597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256957A-D1E6-69EC-BA19-C3FD17C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921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91F1402-444E-860E-D2F5-5312493F2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391D7C4-C334-8A83-88BE-D867E575C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A967EDB-A04B-25FA-0B42-341D8181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53EF21-577B-4EF1-D809-C9D5A4C3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A7C4F4-8221-553B-C41E-ED58B671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37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470E910-916E-2AB1-B678-82EE79D7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85CC32C-5618-91F7-D209-31B453227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246E5B-390F-A5EF-E4EE-A83979D7B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5318B-9C25-4E9E-9C2E-AE609C700A6C}" type="datetimeFigureOut">
              <a:rPr lang="en-IL" smtClean="0"/>
              <a:t>04/28/2026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2559C15-1E74-6566-B8DB-ABA5D5AC3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D257ADB-516E-3EB9-EA28-43641F4B1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610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E45D00-1CD2-11BA-979F-D4F71E33E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D9DBB38-6AE0-A09E-2E34-D87265D2A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FE91D1E-E165-BE81-6D00-C0A5029C8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0" y="320040"/>
            <a:ext cx="12192000" cy="583692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F56355CC-D30F-5634-36C5-6A6F10C9A6FD}"/>
              </a:ext>
            </a:extLst>
          </p:cNvPr>
          <p:cNvSpPr/>
          <p:nvPr/>
        </p:nvSpPr>
        <p:spPr>
          <a:xfrm>
            <a:off x="7059144" y="4696317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קלה</a:t>
            </a:r>
            <a:endParaRPr lang="en-IL" sz="10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E8605AE-EE4A-B121-691E-CE6EC3FA7099}"/>
              </a:ext>
            </a:extLst>
          </p:cNvPr>
          <p:cNvSpPr/>
          <p:nvPr/>
        </p:nvSpPr>
        <p:spPr>
          <a:xfrm>
            <a:off x="7059141" y="491150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בינונית</a:t>
            </a:r>
            <a:endParaRPr lang="en-IL" sz="1000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E488B63-ED18-1E1A-F1F4-985290187D48}"/>
              </a:ext>
            </a:extLst>
          </p:cNvPr>
          <p:cNvSpPr/>
          <p:nvPr/>
        </p:nvSpPr>
        <p:spPr>
          <a:xfrm>
            <a:off x="7059141" y="5126687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קשה</a:t>
            </a:r>
            <a:endParaRPr lang="en-IL" sz="1000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6841BD2-56BC-9EB7-E760-12BE576976BB}"/>
              </a:ext>
            </a:extLst>
          </p:cNvPr>
          <p:cNvSpPr/>
          <p:nvPr/>
        </p:nvSpPr>
        <p:spPr>
          <a:xfrm>
            <a:off x="5338765" y="4486178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כושר הדיפוזיה </a:t>
            </a:r>
            <a:r>
              <a:rPr lang="he-IL" sz="1000" dirty="0" err="1"/>
              <a:t>הריאתי</a:t>
            </a:r>
            <a:r>
              <a:rPr lang="he-IL" sz="1000" dirty="0"/>
              <a:t> שמור</a:t>
            </a:r>
            <a:endParaRPr lang="en-IL" sz="100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F574D853-7498-1682-5EF9-A08DA9897AAA}"/>
              </a:ext>
            </a:extLst>
          </p:cNvPr>
          <p:cNvSpPr/>
          <p:nvPr/>
        </p:nvSpPr>
        <p:spPr>
          <a:xfrm>
            <a:off x="6914019" y="6119009"/>
            <a:ext cx="5253328" cy="692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הספירומטריה</a:t>
            </a:r>
            <a:r>
              <a:rPr lang="he-IL" sz="1000" dirty="0"/>
              <a:t> מדגימה עם הפרעה חסימתית קלה עם תגובה חלקית למרחיבי </a:t>
            </a:r>
            <a:r>
              <a:rPr lang="he-IL" sz="1000" dirty="0" err="1"/>
              <a:t>סימפונות</a:t>
            </a:r>
            <a:r>
              <a:rPr lang="he-IL" sz="1000" dirty="0"/>
              <a:t>, בדיקת </a:t>
            </a:r>
            <a:r>
              <a:rPr lang="he-IL" sz="1000" dirty="0" err="1"/>
              <a:t>הפלטיזמוגרפיה</a:t>
            </a:r>
            <a:r>
              <a:rPr lang="he-IL" sz="1000" dirty="0"/>
              <a:t> מדגימה כליאת אויר, ונצפתה ירידה בינונית בכושר הדיפוזיה </a:t>
            </a:r>
            <a:r>
              <a:rPr lang="he-IL" sz="1000" dirty="0" err="1"/>
              <a:t>הריאתית</a:t>
            </a:r>
            <a:r>
              <a:rPr lang="he-IL" sz="1000" dirty="0"/>
              <a:t> ללא שיפור גם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r>
              <a:rPr lang="he-IL" sz="1000" dirty="0"/>
              <a:t>: </a:t>
            </a:r>
          </a:p>
          <a:p>
            <a:pPr algn="ctr" rtl="0"/>
            <a:r>
              <a:rPr lang="en-US" sz="1000" dirty="0"/>
              <a:t>FEV</a:t>
            </a:r>
            <a:r>
              <a:rPr lang="he-IL" sz="1000" dirty="0"/>
              <a:t>1 45% </a:t>
            </a:r>
            <a:r>
              <a:rPr lang="en-US" sz="1000" dirty="0"/>
              <a:t>FVC</a:t>
            </a:r>
            <a:r>
              <a:rPr lang="he-IL" sz="1000" dirty="0"/>
              <a:t> 33% </a:t>
            </a:r>
            <a:r>
              <a:rPr lang="en-US" sz="1000" dirty="0"/>
              <a:t>FEV</a:t>
            </a:r>
            <a:r>
              <a:rPr lang="he-IL" sz="1000" dirty="0"/>
              <a:t>1/</a:t>
            </a:r>
            <a:r>
              <a:rPr lang="en-US" sz="1000" dirty="0"/>
              <a:t>FVC</a:t>
            </a:r>
            <a:r>
              <a:rPr lang="he-IL" sz="1000" dirty="0"/>
              <a:t> 0.45 </a:t>
            </a:r>
            <a:r>
              <a:rPr lang="en-US" sz="1000" dirty="0"/>
              <a:t>TLC</a:t>
            </a:r>
            <a:r>
              <a:rPr lang="he-IL" sz="1000" dirty="0"/>
              <a:t>    99% </a:t>
            </a:r>
            <a:r>
              <a:rPr lang="en-US" sz="1000" dirty="0"/>
              <a:t>RV</a:t>
            </a:r>
            <a:r>
              <a:rPr lang="he-IL" sz="1000" dirty="0"/>
              <a:t> 44% </a:t>
            </a:r>
            <a:r>
              <a:rPr lang="en-US" sz="1000" dirty="0"/>
              <a:t>DLCO</a:t>
            </a:r>
            <a:r>
              <a:rPr lang="he-IL" sz="1000" dirty="0"/>
              <a:t>  45 </a:t>
            </a:r>
            <a:r>
              <a:rPr lang="en-US" sz="1000" dirty="0"/>
              <a:t>KCO</a:t>
            </a:r>
            <a:r>
              <a:rPr lang="he-IL" sz="1000" dirty="0"/>
              <a:t> % </a:t>
            </a:r>
            <a:endParaRPr lang="en-IL" sz="1000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10444E4-3191-26D2-55BC-D303EED4FA1E}"/>
              </a:ext>
            </a:extLst>
          </p:cNvPr>
          <p:cNvSpPr/>
          <p:nvPr/>
        </p:nvSpPr>
        <p:spPr>
          <a:xfrm>
            <a:off x="10499911" y="448954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הספירומטריה</a:t>
            </a:r>
            <a:r>
              <a:rPr lang="he-IL" sz="1000" dirty="0"/>
              <a:t> בגדר הנורמה</a:t>
            </a:r>
            <a:endParaRPr lang="en-IL" sz="100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D5F85E8D-74EC-15AF-0769-60C78126187A}"/>
              </a:ext>
            </a:extLst>
          </p:cNvPr>
          <p:cNvSpPr/>
          <p:nvPr/>
        </p:nvSpPr>
        <p:spPr>
          <a:xfrm>
            <a:off x="5338755" y="5566252"/>
            <a:ext cx="1667435" cy="339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קשה בכושר הדיפוזיה </a:t>
            </a:r>
            <a:r>
              <a:rPr lang="he-IL" sz="1000" dirty="0" err="1"/>
              <a:t>הריאתית</a:t>
            </a:r>
            <a:endParaRPr lang="en-IL" sz="100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68D8AF10-E231-146A-8D36-232B7BC7AD1D}"/>
              </a:ext>
            </a:extLst>
          </p:cNvPr>
          <p:cNvSpPr/>
          <p:nvPr/>
        </p:nvSpPr>
        <p:spPr>
          <a:xfrm>
            <a:off x="5338760" y="4695006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קלה בכושר הדיפוזיה </a:t>
            </a:r>
            <a:r>
              <a:rPr lang="he-IL" sz="1000" dirty="0" err="1"/>
              <a:t>הריאתית</a:t>
            </a:r>
            <a:endParaRPr lang="en-IL" sz="1000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30421526-94D8-111B-22CA-0D21841D906F}"/>
              </a:ext>
            </a:extLst>
          </p:cNvPr>
          <p:cNvSpPr/>
          <p:nvPr/>
        </p:nvSpPr>
        <p:spPr>
          <a:xfrm>
            <a:off x="8779529" y="448617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ללא תגובה למרחיבי </a:t>
            </a:r>
            <a:r>
              <a:rPr lang="he-IL" sz="1000" dirty="0" err="1"/>
              <a:t>סימפונות</a:t>
            </a:r>
            <a:endParaRPr lang="en-IL" sz="1000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4D062BA6-9B9B-1E78-DFE5-9C8DA8FCC56D}"/>
              </a:ext>
            </a:extLst>
          </p:cNvPr>
          <p:cNvSpPr/>
          <p:nvPr/>
        </p:nvSpPr>
        <p:spPr>
          <a:xfrm>
            <a:off x="8779528" y="4695005"/>
            <a:ext cx="1667435" cy="369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תגובה חלקית למרחיבי </a:t>
            </a:r>
            <a:r>
              <a:rPr lang="he-IL" sz="1000" dirty="0" err="1"/>
              <a:t>סימפונות</a:t>
            </a:r>
            <a:endParaRPr lang="en-IL" sz="1000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FCBD9145-7341-AD4A-513A-FFC7D84D2536}"/>
              </a:ext>
            </a:extLst>
          </p:cNvPr>
          <p:cNvSpPr/>
          <p:nvPr/>
        </p:nvSpPr>
        <p:spPr>
          <a:xfrm>
            <a:off x="7059147" y="448617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נפחי הריאה בגדר הנורמה</a:t>
            </a:r>
            <a:endParaRPr lang="en-IL" sz="1000" dirty="0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F76D22D-4A17-1150-9E11-D6FC01C41531}"/>
              </a:ext>
            </a:extLst>
          </p:cNvPr>
          <p:cNvSpPr/>
          <p:nvPr/>
        </p:nvSpPr>
        <p:spPr>
          <a:xfrm>
            <a:off x="10499915" y="490302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בינונית</a:t>
            </a:r>
            <a:endParaRPr lang="en-IL" sz="1000" dirty="0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DFF582EF-5513-920D-0651-7297E3818D46}"/>
              </a:ext>
            </a:extLst>
          </p:cNvPr>
          <p:cNvSpPr/>
          <p:nvPr/>
        </p:nvSpPr>
        <p:spPr>
          <a:xfrm>
            <a:off x="10499914" y="510921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בינונית קשה</a:t>
            </a:r>
            <a:endParaRPr lang="en-IL" sz="1000" dirty="0"/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A96C2207-7735-2DC8-C779-5758A653C60D}"/>
              </a:ext>
            </a:extLst>
          </p:cNvPr>
          <p:cNvSpPr/>
          <p:nvPr/>
        </p:nvSpPr>
        <p:spPr>
          <a:xfrm>
            <a:off x="10499914" y="5312744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קשה </a:t>
            </a:r>
            <a:endParaRPr lang="en-IL" sz="1000" dirty="0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5C74F94E-0148-9C7E-51DB-040CC6F65A3D}"/>
              </a:ext>
            </a:extLst>
          </p:cNvPr>
          <p:cNvSpPr/>
          <p:nvPr/>
        </p:nvSpPr>
        <p:spPr>
          <a:xfrm>
            <a:off x="10499913" y="551502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קשה ביותר</a:t>
            </a:r>
            <a:endParaRPr lang="en-IL" sz="10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A5C7B84D-3D7A-A6B7-3111-BD1D461072A0}"/>
              </a:ext>
            </a:extLst>
          </p:cNvPr>
          <p:cNvSpPr/>
          <p:nvPr/>
        </p:nvSpPr>
        <p:spPr>
          <a:xfrm>
            <a:off x="10499913" y="5717298"/>
            <a:ext cx="1667435" cy="341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ספירומטריה</a:t>
            </a:r>
            <a:r>
              <a:rPr lang="he-IL" sz="1000" dirty="0"/>
              <a:t> עם נפחים ירודים, יש לשקול </a:t>
            </a:r>
            <a:r>
              <a:rPr lang="he-IL" sz="1000" dirty="0" err="1"/>
              <a:t>פלטיזמוגרפיה</a:t>
            </a:r>
            <a:endParaRPr lang="en-IL" sz="1000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5B166F90-2A44-7CC0-8C82-52B5EAF780F3}"/>
              </a:ext>
            </a:extLst>
          </p:cNvPr>
          <p:cNvSpPr/>
          <p:nvPr/>
        </p:nvSpPr>
        <p:spPr>
          <a:xfrm>
            <a:off x="10499912" y="469836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קלה</a:t>
            </a:r>
            <a:endParaRPr lang="en-IL" sz="1000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4283B98F-4ADC-26CD-FDCA-1527AACC4107}"/>
              </a:ext>
            </a:extLst>
          </p:cNvPr>
          <p:cNvSpPr/>
          <p:nvPr/>
        </p:nvSpPr>
        <p:spPr>
          <a:xfrm>
            <a:off x="8779528" y="5110190"/>
            <a:ext cx="1667435" cy="363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תגובה מלאה למרחיבי </a:t>
            </a:r>
            <a:r>
              <a:rPr lang="he-IL" sz="1000" dirty="0" err="1"/>
              <a:t>הסימפונות</a:t>
            </a:r>
            <a:endParaRPr lang="en-IL" sz="1000"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A7B58E3C-2E11-DDF2-6AEF-3EAF9D406FE7}"/>
              </a:ext>
            </a:extLst>
          </p:cNvPr>
          <p:cNvSpPr/>
          <p:nvPr/>
        </p:nvSpPr>
        <p:spPr>
          <a:xfrm>
            <a:off x="5338755" y="5129576"/>
            <a:ext cx="1667435" cy="385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בינונית בכושר הדיפוזיה </a:t>
            </a:r>
            <a:r>
              <a:rPr lang="he-IL" sz="1000" dirty="0" err="1"/>
              <a:t>הריאתי</a:t>
            </a:r>
            <a:endParaRPr lang="en-IL" sz="1000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D3C5AB63-1782-4FF3-50A9-AB35AFECA078}"/>
              </a:ext>
            </a:extLst>
          </p:cNvPr>
          <p:cNvSpPr/>
          <p:nvPr/>
        </p:nvSpPr>
        <p:spPr>
          <a:xfrm>
            <a:off x="7059140" y="534763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כליאת אויר</a:t>
            </a:r>
            <a:endParaRPr lang="en-IL" sz="1000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5F1A2D50-8423-CFE1-465C-61ABCE9D2D94}"/>
              </a:ext>
            </a:extLst>
          </p:cNvPr>
          <p:cNvSpPr/>
          <p:nvPr/>
        </p:nvSpPr>
        <p:spPr>
          <a:xfrm>
            <a:off x="7059140" y="556106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כליאת אויר קשה</a:t>
            </a:r>
            <a:endParaRPr lang="en-IL" sz="1000" dirty="0"/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88514558-E37B-5F8F-27EE-032DFA699173}"/>
              </a:ext>
            </a:extLst>
          </p:cNvPr>
          <p:cNvSpPr/>
          <p:nvPr/>
        </p:nvSpPr>
        <p:spPr>
          <a:xfrm>
            <a:off x="3598260" y="4486178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המתנרמלת</a:t>
            </a:r>
            <a:r>
              <a:rPr lang="he-IL" sz="1000" dirty="0"/>
              <a:t> עם התקנון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57127F37-D76D-B19A-0C7A-3E0B5CD4F582}"/>
              </a:ext>
            </a:extLst>
          </p:cNvPr>
          <p:cNvSpPr/>
          <p:nvPr/>
        </p:nvSpPr>
        <p:spPr>
          <a:xfrm>
            <a:off x="3598260" y="4923076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עם שיפור חלקי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28E605C2-CC40-8A7A-9706-0819C9E11F81}"/>
              </a:ext>
            </a:extLst>
          </p:cNvPr>
          <p:cNvSpPr/>
          <p:nvPr/>
        </p:nvSpPr>
        <p:spPr>
          <a:xfrm>
            <a:off x="3598260" y="5359974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ללא שיפור גם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C7845CE9-8CDA-FA97-64EE-CF6714DBFC67}"/>
              </a:ext>
            </a:extLst>
          </p:cNvPr>
          <p:cNvSpPr/>
          <p:nvPr/>
        </p:nvSpPr>
        <p:spPr>
          <a:xfrm>
            <a:off x="6309360" y="6105415"/>
            <a:ext cx="544156" cy="339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Copy</a:t>
            </a:r>
            <a:endParaRPr lang="en-IL" sz="1000" dirty="0"/>
          </a:p>
        </p:txBody>
      </p:sp>
    </p:spTree>
    <p:extLst>
      <p:ext uri="{BB962C8B-B14F-4D97-AF65-F5344CB8AC3E}">
        <p14:creationId xmlns:p14="http://schemas.microsoft.com/office/powerpoint/2010/main" val="71967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35D1FF-30BD-580D-5A1A-8C2F8956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הפרעה חסימתית</a:t>
            </a: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11EB4F6-5895-434C-DFBA-55F1C034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err="1"/>
              <a:t>הספירומטריה</a:t>
            </a:r>
            <a:r>
              <a:rPr lang="he-IL" dirty="0"/>
              <a:t> בגדר הנורמה</a:t>
            </a:r>
            <a:endParaRPr lang="en-IL" dirty="0"/>
          </a:p>
          <a:p>
            <a:r>
              <a:rPr lang="he-IL" dirty="0"/>
              <a:t>הפרעה חסימתית קלה</a:t>
            </a:r>
            <a:endParaRPr lang="en-IL" dirty="0"/>
          </a:p>
          <a:p>
            <a:r>
              <a:rPr lang="he-IL" dirty="0"/>
              <a:t>הפרעה חסימתית בינונית</a:t>
            </a:r>
            <a:endParaRPr lang="en-IL" dirty="0"/>
          </a:p>
          <a:p>
            <a:r>
              <a:rPr lang="he-IL" dirty="0"/>
              <a:t>הפרעה חסימתית בינונית- קשה</a:t>
            </a:r>
          </a:p>
          <a:p>
            <a:r>
              <a:rPr lang="he-IL" dirty="0"/>
              <a:t>הפרעה חסימתית קשה</a:t>
            </a:r>
          </a:p>
          <a:p>
            <a:r>
              <a:rPr lang="he-IL" dirty="0"/>
              <a:t>הפרעה חסימתית קשה ביותר</a:t>
            </a:r>
            <a:endParaRPr lang="en-US" dirty="0"/>
          </a:p>
          <a:p>
            <a:r>
              <a:rPr lang="he-IL" dirty="0" err="1"/>
              <a:t>ספירומטריה</a:t>
            </a:r>
            <a:r>
              <a:rPr lang="he-IL" dirty="0"/>
              <a:t> עם נפחים ירודים, יש לשקול </a:t>
            </a:r>
            <a:r>
              <a:rPr lang="he-IL" dirty="0" err="1"/>
              <a:t>פלטיזמוגרפיה</a:t>
            </a:r>
            <a:endParaRPr lang="en-IL" dirty="0"/>
          </a:p>
          <a:p>
            <a:pPr marL="0" indent="0">
              <a:buNone/>
            </a:pPr>
            <a:endParaRPr lang="he-IL" dirty="0"/>
          </a:p>
          <a:p>
            <a:endParaRPr lang="he-IL" dirty="0"/>
          </a:p>
          <a:p>
            <a:endParaRPr lang="en-I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4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F438-1AD9-43D2-EA51-D1AFC90C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B9E216-6E95-1765-3FC3-27D9B5EC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מרחיבי סמפונות</a:t>
            </a: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0507AD-5393-75E4-655C-8999938C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965"/>
            <a:ext cx="10515600" cy="4351338"/>
          </a:xfrm>
        </p:spPr>
        <p:txBody>
          <a:bodyPr/>
          <a:lstStyle/>
          <a:p>
            <a:r>
              <a:rPr lang="he-IL" dirty="0"/>
              <a:t>ללא תגובה למרחיבי </a:t>
            </a:r>
            <a:r>
              <a:rPr lang="he-IL" dirty="0" err="1"/>
              <a:t>סימפונות</a:t>
            </a:r>
            <a:endParaRPr lang="en-IL" dirty="0"/>
          </a:p>
          <a:p>
            <a:r>
              <a:rPr lang="he-IL" dirty="0"/>
              <a:t>תגובה חלקית למרחיבי </a:t>
            </a:r>
            <a:r>
              <a:rPr lang="he-IL" dirty="0" err="1"/>
              <a:t>סימפונות</a:t>
            </a:r>
            <a:endParaRPr lang="en-IL" dirty="0"/>
          </a:p>
          <a:p>
            <a:r>
              <a:rPr lang="he-IL" dirty="0"/>
              <a:t>תגובה מלאה למרחיבי </a:t>
            </a:r>
            <a:r>
              <a:rPr lang="he-IL" dirty="0" err="1"/>
              <a:t>סימפונות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5901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E9145-A6CC-5585-E8FF-95534336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87B94C-F207-832F-4154-92792253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נפחי ריאה</a:t>
            </a: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6233ED0-93EE-6B80-E4A9-C39A0FAB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965"/>
            <a:ext cx="10515600" cy="4351338"/>
          </a:xfrm>
        </p:spPr>
        <p:txBody>
          <a:bodyPr/>
          <a:lstStyle/>
          <a:p>
            <a:r>
              <a:rPr lang="he-IL" dirty="0"/>
              <a:t>נפחי ריאה בגדר הנורמה</a:t>
            </a:r>
            <a:endParaRPr lang="en-IL" dirty="0"/>
          </a:p>
          <a:p>
            <a:r>
              <a:rPr lang="he-IL" dirty="0"/>
              <a:t>הפרעה </a:t>
            </a:r>
            <a:r>
              <a:rPr lang="he-IL" dirty="0" err="1"/>
              <a:t>רסטרקטיבית</a:t>
            </a:r>
            <a:r>
              <a:rPr lang="he-IL" dirty="0"/>
              <a:t> קלה</a:t>
            </a:r>
            <a:endParaRPr lang="en-IL" dirty="0"/>
          </a:p>
          <a:p>
            <a:r>
              <a:rPr lang="he-IL" dirty="0"/>
              <a:t>הפרעה </a:t>
            </a:r>
            <a:r>
              <a:rPr lang="he-IL" dirty="0" err="1"/>
              <a:t>רסטרקטיבית</a:t>
            </a:r>
            <a:r>
              <a:rPr lang="he-IL" dirty="0"/>
              <a:t> בינונית</a:t>
            </a:r>
          </a:p>
          <a:p>
            <a:r>
              <a:rPr lang="he-IL" dirty="0"/>
              <a:t>הפרעה </a:t>
            </a:r>
            <a:r>
              <a:rPr lang="he-IL" dirty="0" err="1"/>
              <a:t>רסטרקטיבית</a:t>
            </a:r>
            <a:r>
              <a:rPr lang="he-IL" dirty="0"/>
              <a:t> קשה</a:t>
            </a:r>
          </a:p>
          <a:p>
            <a:r>
              <a:rPr lang="he-IL" dirty="0"/>
              <a:t>נצפתה כליאת אוויר</a:t>
            </a:r>
          </a:p>
          <a:p>
            <a:r>
              <a:rPr lang="he-IL" dirty="0"/>
              <a:t>נצפתה כליאת אוויר קשה</a:t>
            </a:r>
          </a:p>
          <a:p>
            <a:endParaRPr lang="en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407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D83F-915F-1746-E3B0-F4EB4D5D1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7E19C5-B683-3B10-D29A-36900A03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כושר דיפוזיה ריאתי</a:t>
            </a: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53A5A7-7255-791B-A2BD-B375ED0CE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965"/>
            <a:ext cx="10515600" cy="4351338"/>
          </a:xfrm>
        </p:spPr>
        <p:txBody>
          <a:bodyPr/>
          <a:lstStyle/>
          <a:p>
            <a:r>
              <a:rPr lang="he-IL" dirty="0"/>
              <a:t>כושר דיפוזיה ריאתי שמור</a:t>
            </a:r>
          </a:p>
          <a:p>
            <a:r>
              <a:rPr lang="he-IL" dirty="0"/>
              <a:t>ירידה קלה בכושר הדיפוזיה </a:t>
            </a:r>
            <a:r>
              <a:rPr lang="he-IL" dirty="0" err="1"/>
              <a:t>הריאתי</a:t>
            </a:r>
            <a:endParaRPr lang="en-IL" dirty="0"/>
          </a:p>
          <a:p>
            <a:r>
              <a:rPr lang="he-IL" dirty="0"/>
              <a:t>ירידה בינונית בכושר הדיפוזיה </a:t>
            </a:r>
            <a:r>
              <a:rPr lang="he-IL" dirty="0" err="1"/>
              <a:t>הריאתי</a:t>
            </a:r>
            <a:endParaRPr lang="en-IL" dirty="0"/>
          </a:p>
          <a:p>
            <a:r>
              <a:rPr lang="he-IL" dirty="0"/>
              <a:t>ירידה קשה בכושר הדיפוזיה </a:t>
            </a:r>
            <a:r>
              <a:rPr lang="he-IL" dirty="0" err="1"/>
              <a:t>הריאתי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8835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BB72-D950-03EF-9F1A-7009FA26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756A0D-6119-8FFD-D1D5-426ECD4B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תקנון נפח </a:t>
            </a:r>
            <a:r>
              <a:rPr lang="he-IL" dirty="0" err="1"/>
              <a:t>אלבאולרי</a:t>
            </a:r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114CD-D8E7-544C-83AD-D9D8DA42C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965"/>
            <a:ext cx="10515600" cy="4351338"/>
          </a:xfrm>
        </p:spPr>
        <p:txBody>
          <a:bodyPr/>
          <a:lstStyle/>
          <a:p>
            <a:r>
              <a:rPr lang="he-IL" dirty="0" err="1"/>
              <a:t>ספירומטריה</a:t>
            </a:r>
            <a:r>
              <a:rPr lang="he-IL" dirty="0"/>
              <a:t> </a:t>
            </a:r>
            <a:r>
              <a:rPr lang="he-IL" dirty="0" err="1"/>
              <a:t>המתנרמלת</a:t>
            </a:r>
            <a:r>
              <a:rPr lang="he-IL" dirty="0"/>
              <a:t> עם התקנון לנפח </a:t>
            </a:r>
            <a:r>
              <a:rPr lang="he-IL" dirty="0" err="1"/>
              <a:t>האלבאולרי</a:t>
            </a:r>
            <a:endParaRPr lang="en-IL" dirty="0"/>
          </a:p>
          <a:p>
            <a:r>
              <a:rPr lang="he-IL" dirty="0" err="1"/>
              <a:t>ספירומטריה</a:t>
            </a:r>
            <a:r>
              <a:rPr lang="he-IL" dirty="0"/>
              <a:t> עם שיפור חלקי כאשר </a:t>
            </a:r>
            <a:r>
              <a:rPr lang="he-IL" dirty="0" err="1"/>
              <a:t>מתקננים</a:t>
            </a:r>
            <a:r>
              <a:rPr lang="he-IL" dirty="0"/>
              <a:t> לנפח </a:t>
            </a:r>
            <a:r>
              <a:rPr lang="he-IL" dirty="0" err="1"/>
              <a:t>האלבאולרי</a:t>
            </a:r>
            <a:endParaRPr lang="en-IL" dirty="0"/>
          </a:p>
          <a:p>
            <a:r>
              <a:rPr lang="he-IL" dirty="0" err="1"/>
              <a:t>ספירומטריה</a:t>
            </a:r>
            <a:r>
              <a:rPr lang="he-IL" dirty="0"/>
              <a:t> ללא שיפור גם כאשר </a:t>
            </a:r>
            <a:r>
              <a:rPr lang="he-IL" dirty="0" err="1"/>
              <a:t>מתקננים</a:t>
            </a:r>
            <a:r>
              <a:rPr lang="he-IL" dirty="0"/>
              <a:t> לנפח </a:t>
            </a:r>
            <a:r>
              <a:rPr lang="he-IL" dirty="0" err="1"/>
              <a:t>האלבאולרי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252794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12721</TotalTime>
  <Words>264</Words>
  <Application>Microsoft Office PowerPoint</Application>
  <PresentationFormat>מסך רחב</PresentationFormat>
  <Paragraphs>56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מצגת של PowerPoint‏</vt:lpstr>
      <vt:lpstr>הפרעה חסימתית</vt:lpstr>
      <vt:lpstr>מרחיבי סמפונות</vt:lpstr>
      <vt:lpstr>נפחי ריאה</vt:lpstr>
      <vt:lpstr>כושר דיפוזיה ריאתי</vt:lpstr>
      <vt:lpstr>תקנון נפח אלבאולרי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Doron Cohn-Schwartz</dc:creator>
  <cp:lastModifiedBy>נועה דיסקין</cp:lastModifiedBy>
  <cp:revision>7</cp:revision>
  <dcterms:created xsi:type="dcterms:W3CDTF">2026-01-05T14:52:05Z</dcterms:created>
  <dcterms:modified xsi:type="dcterms:W3CDTF">2026-04-28T11:54:35Z</dcterms:modified>
</cp:coreProperties>
</file>